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7" r:id="rId3"/>
    <p:sldId id="278" r:id="rId4"/>
    <p:sldId id="266" r:id="rId5"/>
    <p:sldId id="274" r:id="rId6"/>
    <p:sldId id="276" r:id="rId7"/>
    <p:sldId id="268" r:id="rId8"/>
    <p:sldId id="269" r:id="rId9"/>
    <p:sldId id="267" r:id="rId10"/>
    <p:sldId id="272" r:id="rId11"/>
    <p:sldId id="280" r:id="rId12"/>
    <p:sldId id="279" r:id="rId13"/>
    <p:sldId id="273"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3088"/>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DDCFEC-1583-4A98-BF4B-CF3364BCE971}" v="102" dt="2025-08-18T14:45:51.666"/>
    <p1510:client id="{85A559D4-FE00-B9DF-AEAD-6458FF78D786}" v="764" dt="2025-08-18T08:32:21.9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8/18/2025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0885167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8/18/2025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821855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8/18/2025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506612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8/18/2025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820568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8/18/2025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725828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8/18/2025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641294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8/18/2025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251453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8/18/2025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250871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8/18/2025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46850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8/18/2025</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38513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8/18/2025</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563839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8/18/2025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22864106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iqgateway-my.sharepoint.com/:w:/r/personal/rambabu_routhu_iqgateway_com/_layouts/15/Doc.aspx?sourcedoc=%7BDBEA4FE8-15E2-4AE3-9C45-8519566E0135%7D&amp;file=HLD_HLD.docx&amp;action=default&amp;mobileredirect=true&amp;wdOrigin=MAIL.SHELL%2CAPPHOME-WEB.BANNER.UPLOAD&amp;wdPreviousSession=6fde0389-0283-4137-a1b9-5a84a0c9e67b&amp;wdPreviousSessionSrc=AppHomeWeb&amp;ct=1755503542433" TargetMode="External"/><Relationship Id="rId7" Type="http://schemas.openxmlformats.org/officeDocument/2006/relationships/hyperlink" Target="https://github.com/9703790514/OPD_Rambabu" TargetMode="External"/><Relationship Id="rId2" Type="http://schemas.openxmlformats.org/officeDocument/2006/relationships/hyperlink" Target="https://iqgateway-my.sharepoint.com/:w:/r/personal/rambabu_routhu_iqgateway_com/_layouts/15/Doc.aspx?sourcedoc=%7B5D262C77-3A0C-44AF-8C85-4DBFE434FAD6%7D&amp;file=OPD_SRS%201.docx&amp;action=default&amp;mobileredirect=true&amp;wdOrigin=MAIL.SHELL%2CAPPHOME-WEB.BANNER.UPLOAD&amp;wdPreviousSession=6fde0389-0283-4137-a1b9-5a84a0c9e67b&amp;wdPreviousSessionSrc=AppHomeWeb&amp;ct=1755503435263" TargetMode="External"/><Relationship Id="rId1" Type="http://schemas.openxmlformats.org/officeDocument/2006/relationships/slideLayout" Target="../slideLayouts/slideLayout2.xml"/><Relationship Id="rId6" Type="http://schemas.openxmlformats.org/officeDocument/2006/relationships/hyperlink" Target="http://C:/Users/sireesha.bobbili/OneDrive%20-%20iqgateway%20pvt%20ltd/TEST%20REPORTS%20FOR%20ADMIT,ROOM%20TRANSFER%20&amp;DISCHARGE.docx" TargetMode="External"/><Relationship Id="rId5" Type="http://schemas.openxmlformats.org/officeDocument/2006/relationships/hyperlink" Target="https://iqgateway-my.sharepoint.com/:w:/r/personal/rambabu_routhu_iqgateway_com/_layouts/15/Doc.aspx?sourcedoc=%7B574728C1-215C-4790-8EF5-31F687F85E4D%7D&amp;file=OPD_QSC.docx&amp;action=default&amp;mobileredirect=true&amp;wdOrigin=MAIL.SHELL%2CAPPHOME-WEB.BANNER.UPLOAD&amp;wdPreviousSession=6fde0389-0283-4137-a1b9-5a84a0c9e67b&amp;wdPreviousSessionSrc=AppHomeWeb&amp;ct=1755503889659" TargetMode="External"/><Relationship Id="rId4" Type="http://schemas.openxmlformats.org/officeDocument/2006/relationships/hyperlink" Target="https://iqgateway-my.sharepoint.com/:w:/r/personal/rambabu_routhu_iqgateway_com/_layouts/15/Doc.aspx?sourcedoc=%7BB2CC1279-28F2-47E7-875F-DB5D867863EA%7D&amp;file=OPD_LLD%201.docx&amp;action=default&amp;mobileredirect=true&amp;wdOrigin=MAIL.SHELL%2CAPPHOME-WEB.BANNER.UPLOAD&amp;wdPreviousSession=6fde0389-0283-4137-a1b9-5a84a0c9e67b&amp;wdPreviousSessionSrc=AppHomeWeb&amp;ct=1755503514890" TargetMode="External"/><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78523"/>
            <a:ext cx="9144000" cy="2387600"/>
          </a:xfrm>
        </p:spPr>
        <p:txBody>
          <a:bodyPr vert="horz" lIns="91440" tIns="45720" rIns="91440" bIns="45720" rtlCol="0" anchor="ctr">
            <a:normAutofit/>
          </a:bodyPr>
          <a:lstStyle/>
          <a:p>
            <a:r>
              <a:rPr lang="en-US" b="1">
                <a:solidFill>
                  <a:srgbClr val="C00000"/>
                </a:solidFill>
              </a:rPr>
              <a:t>C</a:t>
            </a:r>
            <a:r>
              <a:rPr lang="en-US" b="1">
                <a:solidFill>
                  <a:srgbClr val="2B3088"/>
                </a:solidFill>
              </a:rPr>
              <a:t>APSTONE</a:t>
            </a:r>
            <a:r>
              <a:rPr lang="en-US" b="1"/>
              <a:t> </a:t>
            </a:r>
            <a:r>
              <a:rPr lang="en-US" b="1">
                <a:solidFill>
                  <a:srgbClr val="C00000"/>
                </a:solidFill>
              </a:rPr>
              <a:t>P</a:t>
            </a:r>
            <a:r>
              <a:rPr lang="en-US" b="1">
                <a:solidFill>
                  <a:srgbClr val="2B3088"/>
                </a:solidFill>
              </a:rPr>
              <a:t>ROJECT</a:t>
            </a:r>
          </a:p>
        </p:txBody>
      </p:sp>
      <p:sp>
        <p:nvSpPr>
          <p:cNvPr id="3" name="Subtitle 2"/>
          <p:cNvSpPr>
            <a:spLocks noGrp="1"/>
          </p:cNvSpPr>
          <p:nvPr>
            <p:ph type="subTitle" idx="1"/>
          </p:nvPr>
        </p:nvSpPr>
        <p:spPr>
          <a:xfrm>
            <a:off x="1696720" y="2596198"/>
            <a:ext cx="9144000" cy="1655762"/>
          </a:xfrm>
        </p:spPr>
        <p:txBody>
          <a:bodyPr vert="horz" lIns="91440" tIns="45720" rIns="91440" bIns="45720" rtlCol="0" anchor="ctr">
            <a:normAutofit/>
          </a:bodyPr>
          <a:lstStyle/>
          <a:p>
            <a:r>
              <a:rPr lang="en-US" sz="3600" b="1" dirty="0">
                <a:solidFill>
                  <a:schemeClr val="tx1">
                    <a:lumMod val="85000"/>
                    <a:lumOff val="15000"/>
                  </a:schemeClr>
                </a:solidFill>
                <a:ea typeface="+mn-lt"/>
                <a:cs typeface="+mn-lt"/>
              </a:rPr>
              <a:t>Outpatient Schedule Tracking</a:t>
            </a:r>
            <a:endParaRPr lang="en-US" sz="3600" b="1">
              <a:solidFill>
                <a:schemeClr val="tx1">
                  <a:lumMod val="85000"/>
                  <a:lumOff val="15000"/>
                </a:schemeClr>
              </a:solidFill>
            </a:endParaRPr>
          </a:p>
        </p:txBody>
      </p:sp>
      <p:pic>
        <p:nvPicPr>
          <p:cNvPr id="4" name="Picture 3" descr="Logo&#10;&#10;Description automatically generated">
            <a:extLst>
              <a:ext uri="{FF2B5EF4-FFF2-40B4-BE49-F238E27FC236}">
                <a16:creationId xmlns:a16="http://schemas.microsoft.com/office/drawing/2014/main" id="{D37D6CE7-FED2-6658-93BE-A881071DE299}"/>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DE2FD8EF-20C3-F6D1-CD7D-D35BB3582C22}"/>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0F9282D0-5DF6-4599-8F0D-59E7E29C7F5D}"/>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208D02CA-0676-B6F8-351B-A628E5FB0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08A55E95-DDB9-D5A6-BAB6-7CCE7A657822}"/>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BD97B124-C726-EE88-FB5D-94ABCB78910F}"/>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2E15BA93-5410-483C-2F14-906366228829}"/>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AEED786E-E24D-0A38-1392-3E94171D2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203925CA-D090-0AFB-A575-2C8BBBC3FCA6}"/>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
        <p:nvSpPr>
          <p:cNvPr id="13" name="TextBox 12">
            <a:extLst>
              <a:ext uri="{FF2B5EF4-FFF2-40B4-BE49-F238E27FC236}">
                <a16:creationId xmlns:a16="http://schemas.microsoft.com/office/drawing/2014/main" id="{D96523A4-DED4-9C0B-BD63-6C92F4A9F76C}"/>
              </a:ext>
            </a:extLst>
          </p:cNvPr>
          <p:cNvSpPr txBox="1"/>
          <p:nvPr/>
        </p:nvSpPr>
        <p:spPr>
          <a:xfrm>
            <a:off x="8900160" y="5303520"/>
            <a:ext cx="30022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err="1"/>
              <a:t>Routhu</a:t>
            </a:r>
            <a:r>
              <a:rPr lang="en-US" sz="2400" b="1" dirty="0"/>
              <a:t> Rambabu</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E844C-7356-22A4-15CE-D77C37A9B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478AC-FAA6-5BE1-29DD-1026701C0765}"/>
              </a:ext>
            </a:extLst>
          </p:cNvPr>
          <p:cNvSpPr>
            <a:spLocks noGrp="1"/>
          </p:cNvSpPr>
          <p:nvPr>
            <p:ph type="ctrTitle"/>
          </p:nvPr>
        </p:nvSpPr>
        <p:spPr>
          <a:xfrm>
            <a:off x="223520" y="4763"/>
            <a:ext cx="5161280" cy="894080"/>
          </a:xfrm>
        </p:spPr>
        <p:txBody>
          <a:bodyPr vert="horz" lIns="91440" tIns="45720" rIns="91440" bIns="45720" rtlCol="0" anchor="ctr">
            <a:normAutofit/>
          </a:bodyPr>
          <a:lstStyle/>
          <a:p>
            <a:r>
              <a:rPr lang="en-US" sz="4400" b="1" dirty="0"/>
              <a:t>Project Overview</a:t>
            </a:r>
          </a:p>
        </p:txBody>
      </p:sp>
      <p:sp>
        <p:nvSpPr>
          <p:cNvPr id="3" name="Subtitle 2">
            <a:extLst>
              <a:ext uri="{FF2B5EF4-FFF2-40B4-BE49-F238E27FC236}">
                <a16:creationId xmlns:a16="http://schemas.microsoft.com/office/drawing/2014/main" id="{A7B7BB01-D108-497E-F2B5-368E8C06318E}"/>
              </a:ext>
            </a:extLst>
          </p:cNvPr>
          <p:cNvSpPr>
            <a:spLocks noGrp="1"/>
          </p:cNvSpPr>
          <p:nvPr>
            <p:ph type="subTitle" idx="1"/>
          </p:nvPr>
        </p:nvSpPr>
        <p:spPr>
          <a:xfrm>
            <a:off x="224820" y="701680"/>
            <a:ext cx="11205911" cy="5289237"/>
          </a:xfrm>
        </p:spPr>
        <p:txBody>
          <a:bodyPr vert="horz" lIns="91440" tIns="45720" rIns="91440" bIns="45720" rtlCol="0" anchor="ctr">
            <a:noAutofit/>
          </a:bodyPr>
          <a:lstStyle/>
          <a:p>
            <a:pPr marL="457200" indent="-457200" algn="just">
              <a:buAutoNum type="arabicPeriod"/>
            </a:pPr>
            <a:r>
              <a:rPr lang="en-US" sz="2400" b="1" dirty="0">
                <a:solidFill>
                  <a:schemeClr val="accent3"/>
                </a:solidFill>
                <a:ea typeface="+mn-lt"/>
                <a:cs typeface="+mn-lt"/>
              </a:rPr>
              <a:t>Introduction </a:t>
            </a:r>
            <a:r>
              <a:rPr lang="en-US" sz="2400" b="1" dirty="0">
                <a:ea typeface="+mn-lt"/>
                <a:cs typeface="+mn-lt"/>
              </a:rPr>
              <a:t>:</a:t>
            </a:r>
            <a:r>
              <a:rPr lang="en-US" sz="2400" b="1" dirty="0">
                <a:latin typeface="Neue Haas Grotesk Text Pro"/>
                <a:ea typeface="+mn-lt"/>
                <a:cs typeface="+mn-lt"/>
              </a:rPr>
              <a:t>  </a:t>
            </a:r>
            <a:r>
              <a:rPr lang="en-US" sz="2400" dirty="0">
                <a:latin typeface="Aptos Display"/>
                <a:ea typeface="+mn-lt"/>
                <a:cs typeface="+mn-lt"/>
              </a:rPr>
              <a:t> "</a:t>
            </a:r>
            <a:r>
              <a:rPr lang="en-US" sz="2400" dirty="0" err="1">
                <a:latin typeface="Aptos Display"/>
                <a:ea typeface="+mn-lt"/>
                <a:cs typeface="+mn-lt"/>
              </a:rPr>
              <a:t>Sarvotham's</a:t>
            </a:r>
            <a:r>
              <a:rPr lang="en-US" sz="2400" dirty="0">
                <a:latin typeface="Aptos Display"/>
                <a:ea typeface="+mn-lt"/>
                <a:cs typeface="+mn-lt"/>
              </a:rPr>
              <a:t> Spine Care," a growing hospital in Bengaluru, experiencing an increase in patient volume. While they have an effective support system, their current processes for managing outpatient schedules, records, and billing are maintained manually in physical registers. This manual process is inefficient and hinders productivity. The hospital seeks a digital solution to streamline these operations</a:t>
            </a:r>
            <a:endParaRPr lang="en-US" sz="2400">
              <a:latin typeface="Aptos Display"/>
            </a:endParaRPr>
          </a:p>
          <a:p>
            <a:pPr marL="457200" indent="-457200" algn="just">
              <a:buAutoNum type="arabicPeriod"/>
            </a:pPr>
            <a:r>
              <a:rPr lang="en-US" sz="2400" b="1" dirty="0">
                <a:solidFill>
                  <a:schemeClr val="accent3"/>
                </a:solidFill>
                <a:latin typeface="Neue Haas Grotesk Text Pro"/>
              </a:rPr>
              <a:t> Project Goal </a:t>
            </a:r>
            <a:r>
              <a:rPr lang="en-US" sz="2400" b="1" dirty="0">
                <a:latin typeface="Neue Haas Grotesk Text Pro"/>
              </a:rPr>
              <a:t> :     </a:t>
            </a:r>
            <a:r>
              <a:rPr lang="en-US" sz="2400" dirty="0">
                <a:latin typeface="Aptos"/>
              </a:rPr>
              <a:t>The primary goal is to develop a digital application that allows     the  hospital to effectively manage and track every outpatient's schedule. This system will enhance the productivity of the hospital staff and enable attending physicians and nurses to manage patients more efficiently</a:t>
            </a:r>
            <a:r>
              <a:rPr lang="en-US" sz="2400" dirty="0">
                <a:latin typeface="Neue Haas Grotesk Text Pro"/>
              </a:rPr>
              <a:t>.</a:t>
            </a:r>
            <a:endParaRPr lang="en-US" sz="2400" dirty="0">
              <a:latin typeface="Aptos Display"/>
            </a:endParaRPr>
          </a:p>
          <a:p>
            <a:pPr marL="342900" indent="-342900" algn="just">
              <a:lnSpc>
                <a:spcPct val="150000"/>
              </a:lnSpc>
              <a:buAutoNum type="arabicPeriod"/>
            </a:pPr>
            <a:endParaRPr lang="en-US" dirty="0">
              <a:latin typeface="Neue Haas Grotesk Text Pro"/>
            </a:endParaRPr>
          </a:p>
        </p:txBody>
      </p:sp>
      <p:pic>
        <p:nvPicPr>
          <p:cNvPr id="4" name="Picture 3" descr="Logo&#10;&#10;Description automatically generated">
            <a:extLst>
              <a:ext uri="{FF2B5EF4-FFF2-40B4-BE49-F238E27FC236}">
                <a16:creationId xmlns:a16="http://schemas.microsoft.com/office/drawing/2014/main" id="{8C4A539C-2AF4-D60A-A9D3-E1F3D3BC6908}"/>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6BAC1D09-6E4B-8587-66E1-AF1C0EB24BF6}"/>
              </a:ext>
            </a:extLst>
          </p:cNvPr>
          <p:cNvGrpSpPr/>
          <p:nvPr/>
        </p:nvGrpSpPr>
        <p:grpSpPr>
          <a:xfrm>
            <a:off x="225730" y="6200436"/>
            <a:ext cx="11731301" cy="483929"/>
            <a:chOff x="632130" y="7143656"/>
            <a:chExt cx="11691611" cy="622743"/>
          </a:xfrm>
        </p:grpSpPr>
        <p:grpSp>
          <p:nvGrpSpPr>
            <p:cNvPr id="6" name="Group 5">
              <a:extLst>
                <a:ext uri="{FF2B5EF4-FFF2-40B4-BE49-F238E27FC236}">
                  <a16:creationId xmlns:a16="http://schemas.microsoft.com/office/drawing/2014/main" id="{1F5DAA49-B078-794C-6173-9306D7A79AF6}"/>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E295F20F-FED9-A0D2-3603-E659F66194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622602ED-4298-2413-8474-BC18E42CC4FF}"/>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E9BD7B5E-016C-11EE-AD7D-0FC30B688FB1}"/>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4F51C4BD-79A0-2143-B25C-11DCB8A8A289}"/>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1BC57609-50E9-402D-7484-EEAD2B83A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FA62EB3D-EDD2-8CCF-8E2D-2A146F3589F0}"/>
                </a:ext>
              </a:extLst>
            </p:cNvPr>
            <p:cNvSpPr txBox="1"/>
            <p:nvPr/>
          </p:nvSpPr>
          <p:spPr>
            <a:xfrm>
              <a:off x="9389075" y="7143656"/>
              <a:ext cx="2778325" cy="523220"/>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444305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A69A7-C51C-94F4-1503-9A91CF5D28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56722-8600-E6CC-0825-F4FDCD518C5E}"/>
              </a:ext>
            </a:extLst>
          </p:cNvPr>
          <p:cNvSpPr>
            <a:spLocks noGrp="1"/>
          </p:cNvSpPr>
          <p:nvPr>
            <p:ph type="ctrTitle"/>
          </p:nvPr>
        </p:nvSpPr>
        <p:spPr>
          <a:xfrm>
            <a:off x="223520" y="4763"/>
            <a:ext cx="2524359" cy="894080"/>
          </a:xfrm>
        </p:spPr>
        <p:txBody>
          <a:bodyPr vert="horz" lIns="91440" tIns="45720" rIns="91440" bIns="45720" rtlCol="0" anchor="ctr">
            <a:normAutofit fontScale="90000"/>
          </a:bodyPr>
          <a:lstStyle/>
          <a:p>
            <a:r>
              <a:rPr lang="en-US" sz="4400" dirty="0"/>
              <a:t>Scope   : </a:t>
            </a:r>
            <a:endParaRPr lang="en-US" sz="4400" b="1" dirty="0"/>
          </a:p>
        </p:txBody>
      </p:sp>
      <p:sp>
        <p:nvSpPr>
          <p:cNvPr id="3" name="Subtitle 2">
            <a:extLst>
              <a:ext uri="{FF2B5EF4-FFF2-40B4-BE49-F238E27FC236}">
                <a16:creationId xmlns:a16="http://schemas.microsoft.com/office/drawing/2014/main" id="{92BA66C6-B14C-B443-71A2-6AC3D54B4742}"/>
              </a:ext>
            </a:extLst>
          </p:cNvPr>
          <p:cNvSpPr>
            <a:spLocks noGrp="1"/>
          </p:cNvSpPr>
          <p:nvPr>
            <p:ph type="subTitle" idx="1"/>
          </p:nvPr>
        </p:nvSpPr>
        <p:spPr>
          <a:xfrm>
            <a:off x="24297" y="1705326"/>
            <a:ext cx="11792256" cy="4205255"/>
          </a:xfrm>
        </p:spPr>
        <p:txBody>
          <a:bodyPr vert="horz" lIns="91440" tIns="45720" rIns="91440" bIns="45720" rtlCol="0" anchor="ctr">
            <a:noAutofit/>
          </a:bodyPr>
          <a:lstStyle/>
          <a:p>
            <a:pPr marL="285750" indent="-285750" algn="just">
              <a:buFont typeface="Arial"/>
              <a:buChar char="•"/>
            </a:pPr>
            <a:r>
              <a:rPr lang="en-US" sz="2400" b="1" dirty="0">
                <a:solidFill>
                  <a:schemeClr val="accent3"/>
                </a:solidFill>
                <a:latin typeface="Aptos"/>
                <a:ea typeface="+mn-lt"/>
                <a:cs typeface="+mn-lt"/>
              </a:rPr>
              <a:t>Front Desk Management :</a:t>
            </a:r>
            <a:r>
              <a:rPr lang="en-US" sz="2400" dirty="0">
                <a:latin typeface="Aptos"/>
                <a:ea typeface="+mn-lt"/>
                <a:cs typeface="+mn-lt"/>
              </a:rPr>
              <a:t> A digital kiosk to manage patient alignment with doctors, track patient status, and redirect requests to appropriate support staff.</a:t>
            </a:r>
            <a:endParaRPr lang="en-US">
              <a:latin typeface="Aptos"/>
            </a:endParaRPr>
          </a:p>
          <a:p>
            <a:pPr marL="285750" indent="-285750" algn="just">
              <a:buFont typeface="Arial"/>
              <a:buChar char="•"/>
            </a:pPr>
            <a:r>
              <a:rPr lang="en-US" sz="2400" b="1" dirty="0">
                <a:solidFill>
                  <a:schemeClr val="accent3"/>
                </a:solidFill>
                <a:latin typeface="Aptos"/>
                <a:ea typeface="+mn-lt"/>
                <a:cs typeface="+mn-lt"/>
              </a:rPr>
              <a:t>Support Staff Operations :</a:t>
            </a:r>
            <a:r>
              <a:rPr lang="en-US" sz="2400" dirty="0">
                <a:latin typeface="Aptos"/>
                <a:ea typeface="+mn-lt"/>
                <a:cs typeface="+mn-lt"/>
              </a:rPr>
              <a:t> A system for nurses, attenders, and lab technicians to update patient health information, upload diagnostic reports, and manage billing-related information like treatment fees.</a:t>
            </a:r>
            <a:endParaRPr lang="en-US">
              <a:latin typeface="Aptos"/>
            </a:endParaRPr>
          </a:p>
          <a:p>
            <a:pPr marL="285750" indent="-285750" algn="just">
              <a:buFont typeface="Arial"/>
              <a:buChar char="•"/>
            </a:pPr>
            <a:r>
              <a:rPr lang="en-US" sz="2400" b="1" dirty="0">
                <a:solidFill>
                  <a:schemeClr val="accent3"/>
                </a:solidFill>
                <a:latin typeface="Aptos"/>
                <a:ea typeface="+mn-lt"/>
                <a:cs typeface="+mn-lt"/>
              </a:rPr>
              <a:t>Patient Portal :</a:t>
            </a:r>
            <a:r>
              <a:rPr lang="en-US" sz="2400" dirty="0">
                <a:latin typeface="Aptos"/>
                <a:ea typeface="+mn-lt"/>
                <a:cs typeface="+mn-lt"/>
              </a:rPr>
              <a:t> A secure portal for patients to register, view their treatment records, and access their bills and lab reports online.</a:t>
            </a:r>
            <a:endParaRPr lang="en-US">
              <a:latin typeface="Aptos"/>
            </a:endParaRPr>
          </a:p>
          <a:p>
            <a:pPr marL="285750" indent="-285750" algn="just">
              <a:buFont typeface="Arial"/>
              <a:buChar char="•"/>
            </a:pPr>
            <a:r>
              <a:rPr lang="en-US" sz="2400" b="1" dirty="0">
                <a:solidFill>
                  <a:schemeClr val="accent3"/>
                </a:solidFill>
                <a:latin typeface="Aptos"/>
                <a:ea typeface="+mn-lt"/>
                <a:cs typeface="+mn-lt"/>
              </a:rPr>
              <a:t>Billing Management :</a:t>
            </a:r>
            <a:r>
              <a:rPr lang="en-US" sz="2400" dirty="0">
                <a:latin typeface="Aptos"/>
                <a:ea typeface="+mn-lt"/>
                <a:cs typeface="+mn-lt"/>
              </a:rPr>
              <a:t> A dedicated module for the billing desk to verify treatment types, generate bills, and process payments, including cash and claims-based transactions.</a:t>
            </a:r>
            <a:endParaRPr lang="en-US">
              <a:latin typeface="Aptos"/>
            </a:endParaRPr>
          </a:p>
          <a:p>
            <a:pPr algn="just"/>
            <a:endParaRPr lang="en-US" sz="2400" dirty="0">
              <a:latin typeface="Aptos"/>
            </a:endParaRPr>
          </a:p>
        </p:txBody>
      </p:sp>
      <p:pic>
        <p:nvPicPr>
          <p:cNvPr id="4" name="Picture 3" descr="Logo&#10;&#10;Description automatically generated">
            <a:extLst>
              <a:ext uri="{FF2B5EF4-FFF2-40B4-BE49-F238E27FC236}">
                <a16:creationId xmlns:a16="http://schemas.microsoft.com/office/drawing/2014/main" id="{961D83ED-DA04-24BC-45E8-983A509EE1CE}"/>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56F9194F-EA6F-AF7D-34FE-E7CDC8A782A1}"/>
              </a:ext>
            </a:extLst>
          </p:cNvPr>
          <p:cNvGrpSpPr/>
          <p:nvPr/>
        </p:nvGrpSpPr>
        <p:grpSpPr>
          <a:xfrm>
            <a:off x="-1941088" y="6201524"/>
            <a:ext cx="13888093" cy="1315021"/>
            <a:chOff x="700946" y="6074166"/>
            <a:chExt cx="13841106" cy="1692233"/>
          </a:xfrm>
        </p:grpSpPr>
        <p:grpSp>
          <p:nvGrpSpPr>
            <p:cNvPr id="10" name="Group 9">
              <a:extLst>
                <a:ext uri="{FF2B5EF4-FFF2-40B4-BE49-F238E27FC236}">
                  <a16:creationId xmlns:a16="http://schemas.microsoft.com/office/drawing/2014/main" id="{886C2F35-1803-1B60-240C-BCAF4CE8B5CD}"/>
                </a:ext>
              </a:extLst>
            </p:cNvPr>
            <p:cNvGrpSpPr/>
            <p:nvPr/>
          </p:nvGrpSpPr>
          <p:grpSpPr>
            <a:xfrm>
              <a:off x="2820464" y="6074166"/>
              <a:ext cx="11721588" cy="554420"/>
              <a:chOff x="2258050" y="6425268"/>
              <a:chExt cx="8709073" cy="381006"/>
            </a:xfrm>
          </p:grpSpPr>
          <p:sp>
            <p:nvSpPr>
              <p:cNvPr id="11" name="Rectangle 10">
                <a:extLst>
                  <a:ext uri="{FF2B5EF4-FFF2-40B4-BE49-F238E27FC236}">
                    <a16:creationId xmlns:a16="http://schemas.microsoft.com/office/drawing/2014/main" id="{7B9B1E0A-5D44-8CC7-426F-408AEB8A2017}"/>
                  </a:ext>
                </a:extLst>
              </p:cNvPr>
              <p:cNvSpPr/>
              <p:nvPr/>
            </p:nvSpPr>
            <p:spPr>
              <a:xfrm>
                <a:off x="5099723" y="6425268"/>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E410E213-B585-84EF-A8FB-323AF68025EE}"/>
                  </a:ext>
                </a:extLst>
              </p:cNvPr>
              <p:cNvSpPr/>
              <p:nvPr/>
            </p:nvSpPr>
            <p:spPr>
              <a:xfrm>
                <a:off x="2258050" y="6425274"/>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pic>
          <p:nvPicPr>
            <p:cNvPr id="7" name="Picture 6">
              <a:extLst>
                <a:ext uri="{FF2B5EF4-FFF2-40B4-BE49-F238E27FC236}">
                  <a16:creationId xmlns:a16="http://schemas.microsoft.com/office/drawing/2014/main" id="{6E0685F0-DE70-A1E6-9A51-E75D8476D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9FE372BD-0B94-06B2-9564-F8F7C087A2E3}"/>
                </a:ext>
              </a:extLst>
            </p:cNvPr>
            <p:cNvSpPr txBox="1"/>
            <p:nvPr/>
          </p:nvSpPr>
          <p:spPr>
            <a:xfrm>
              <a:off x="9389075" y="7143656"/>
              <a:ext cx="2778325" cy="523220"/>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2102910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AA34-29B9-161B-A731-DD037B21F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C6CD5-2620-D0A5-95FF-A8CA103632E0}"/>
              </a:ext>
            </a:extLst>
          </p:cNvPr>
          <p:cNvSpPr>
            <a:spLocks noGrp="1"/>
          </p:cNvSpPr>
          <p:nvPr>
            <p:ph type="ctrTitle"/>
          </p:nvPr>
        </p:nvSpPr>
        <p:spPr>
          <a:xfrm>
            <a:off x="126055" y="75647"/>
            <a:ext cx="5212080" cy="741680"/>
          </a:xfrm>
        </p:spPr>
        <p:txBody>
          <a:bodyPr vert="horz" lIns="91440" tIns="45720" rIns="91440" bIns="45720" rtlCol="0" anchor="ctr">
            <a:normAutofit/>
          </a:bodyPr>
          <a:lstStyle/>
          <a:p>
            <a:r>
              <a:rPr lang="en-US" sz="3200" b="1" dirty="0"/>
              <a:t>Actors &amp; Their Roles</a:t>
            </a:r>
          </a:p>
        </p:txBody>
      </p:sp>
      <p:pic>
        <p:nvPicPr>
          <p:cNvPr id="4" name="Picture 3" descr="Logo&#10;&#10;Description automatically generated">
            <a:extLst>
              <a:ext uri="{FF2B5EF4-FFF2-40B4-BE49-F238E27FC236}">
                <a16:creationId xmlns:a16="http://schemas.microsoft.com/office/drawing/2014/main" id="{643416EE-A007-503B-409C-29C2B310B33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2DB881DE-C1A0-38E2-6432-6E76A0FEEE97}"/>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C7BC1459-0E1A-E56E-8081-B9FEA0157531}"/>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9A5F4142-D4E7-04F7-28D6-20D6A7126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6CFE170D-52D1-00D0-5237-87A78F79BD24}"/>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6944920C-4FDE-033D-5BDE-87E49D912A5F}"/>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0A4F91D0-1823-E447-93DA-DAA1BF0E4885}"/>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1ED05BA6-731D-4075-28B4-596AA5C94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38FF8AD4-27D7-3929-3AE4-038FE51C8929}"/>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dirty="0">
                  <a:solidFill>
                    <a:schemeClr val="bg1"/>
                  </a:solidFill>
                </a:rPr>
                <a:t>Simple Solutions!</a:t>
              </a:r>
            </a:p>
          </p:txBody>
        </p:sp>
      </p:grpSp>
      <p:graphicFrame>
        <p:nvGraphicFramePr>
          <p:cNvPr id="14" name="Table 13">
            <a:extLst>
              <a:ext uri="{FF2B5EF4-FFF2-40B4-BE49-F238E27FC236}">
                <a16:creationId xmlns:a16="http://schemas.microsoft.com/office/drawing/2014/main" id="{F1B87EF7-E37F-8ABA-445C-4FAF86343442}"/>
              </a:ext>
            </a:extLst>
          </p:cNvPr>
          <p:cNvGraphicFramePr>
            <a:graphicFrameLocks noGrp="1"/>
          </p:cNvGraphicFramePr>
          <p:nvPr>
            <p:extLst>
              <p:ext uri="{D42A27DB-BD31-4B8C-83A1-F6EECF244321}">
                <p14:modId xmlns:p14="http://schemas.microsoft.com/office/powerpoint/2010/main" val="131960713"/>
              </p:ext>
            </p:extLst>
          </p:nvPr>
        </p:nvGraphicFramePr>
        <p:xfrm>
          <a:off x="200526" y="711868"/>
          <a:ext cx="11873179" cy="6042424"/>
        </p:xfrm>
        <a:graphic>
          <a:graphicData uri="http://schemas.openxmlformats.org/drawingml/2006/table">
            <a:tbl>
              <a:tblPr firstRow="1" bandRow="1">
                <a:tableStyleId>{5C22544A-7EE6-4342-B048-85BDC9FD1C3A}</a:tableStyleId>
              </a:tblPr>
              <a:tblGrid>
                <a:gridCol w="2902800">
                  <a:extLst>
                    <a:ext uri="{9D8B030D-6E8A-4147-A177-3AD203B41FA5}">
                      <a16:colId xmlns:a16="http://schemas.microsoft.com/office/drawing/2014/main" val="3144508012"/>
                    </a:ext>
                  </a:extLst>
                </a:gridCol>
                <a:gridCol w="8970379">
                  <a:extLst>
                    <a:ext uri="{9D8B030D-6E8A-4147-A177-3AD203B41FA5}">
                      <a16:colId xmlns:a16="http://schemas.microsoft.com/office/drawing/2014/main" val="2858299335"/>
                    </a:ext>
                  </a:extLst>
                </a:gridCol>
              </a:tblGrid>
              <a:tr h="537939">
                <a:tc>
                  <a:txBody>
                    <a:bodyPr/>
                    <a:lstStyle/>
                    <a:p>
                      <a:pPr lvl="0" algn="ctr">
                        <a:buNone/>
                      </a:pPr>
                      <a:r>
                        <a:rPr lang="en-US" sz="3000" b="1" i="0" u="none" strike="noStrike" noProof="0" dirty="0">
                          <a:latin typeface="Aptos"/>
                        </a:rPr>
                        <a:t>Actor</a:t>
                      </a:r>
                      <a:endParaRPr lang="en-US" sz="3000" b="1" dirty="0"/>
                    </a:p>
                  </a:txBody>
                  <a:tcPr anchor="ctr">
                    <a:solidFill>
                      <a:schemeClr val="tx1"/>
                    </a:solidFill>
                  </a:tcPr>
                </a:tc>
                <a:tc>
                  <a:txBody>
                    <a:bodyPr/>
                    <a:lstStyle/>
                    <a:p>
                      <a:pPr lvl="0" algn="ctr">
                        <a:buNone/>
                      </a:pPr>
                      <a:r>
                        <a:rPr lang="en-US" sz="3000" b="1" i="0" u="none" strike="noStrike" noProof="0" dirty="0">
                          <a:latin typeface="Aptos"/>
                        </a:rPr>
                        <a:t>Primary Responsibilities</a:t>
                      </a:r>
                      <a:endParaRPr lang="en-US" sz="3000" b="1" dirty="0"/>
                    </a:p>
                  </a:txBody>
                  <a:tcPr anchor="ctr">
                    <a:solidFill>
                      <a:schemeClr val="tx1"/>
                    </a:solidFill>
                  </a:tcPr>
                </a:tc>
                <a:extLst>
                  <a:ext uri="{0D108BD9-81ED-4DB2-BD59-A6C34878D82A}">
                    <a16:rowId xmlns:a16="http://schemas.microsoft.com/office/drawing/2014/main" val="1481048565"/>
                  </a:ext>
                </a:extLst>
              </a:tr>
              <a:tr h="2661381">
                <a:tc>
                  <a:txBody>
                    <a:bodyPr/>
                    <a:lstStyle/>
                    <a:p>
                      <a:pPr lvl="0" algn="l">
                        <a:buNone/>
                      </a:pPr>
                      <a:r>
                        <a:rPr lang="en-US" sz="2400" b="0" i="0" u="none" strike="noStrike" noProof="0" dirty="0">
                          <a:solidFill>
                            <a:srgbClr val="000000"/>
                          </a:solidFill>
                          <a:latin typeface="Franklin Gothic Demi"/>
                        </a:rPr>
                        <a:t>Doctor </a:t>
                      </a:r>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Review comprehensive patient history and diagnostic reports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Provide diagnoses and treatment plans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Prescribe medications and order lab tests or imaging</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Communicate clearly with patients and caregivers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Approve and validate health records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Record consultation notes and follow-up instructions</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Coordinate with support staff for continuous patient care</a:t>
                      </a:r>
                    </a:p>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 Manage outpatient schedules and availability</a:t>
                      </a:r>
                      <a:endParaRPr lang="en-US" dirty="0"/>
                    </a:p>
                  </a:txBody>
                  <a:tcPr anchor="ctr">
                    <a:solidFill>
                      <a:schemeClr val="bg1">
                        <a:lumMod val="95000"/>
                      </a:schemeClr>
                    </a:solidFill>
                  </a:tcPr>
                </a:tc>
                <a:extLst>
                  <a:ext uri="{0D108BD9-81ED-4DB2-BD59-A6C34878D82A}">
                    <a16:rowId xmlns:a16="http://schemas.microsoft.com/office/drawing/2014/main" val="2392717345"/>
                  </a:ext>
                </a:extLst>
              </a:tr>
              <a:tr h="2349950">
                <a:tc>
                  <a:txBody>
                    <a:bodyPr/>
                    <a:lstStyle/>
                    <a:p>
                      <a:pPr marL="0" marR="0" lvl="0" indent="0" algn="l">
                        <a:lnSpc>
                          <a:spcPct val="80000"/>
                        </a:lnSpc>
                        <a:spcBef>
                          <a:spcPct val="0"/>
                        </a:spcBef>
                        <a:spcAft>
                          <a:spcPts val="0"/>
                        </a:spcAft>
                        <a:buNone/>
                      </a:pPr>
                      <a:r>
                        <a:rPr lang="en-US" sz="2400" b="0" i="0" u="none" strike="noStrike" noProof="0" dirty="0">
                          <a:solidFill>
                            <a:srgbClr val="000000"/>
                          </a:solidFill>
                          <a:latin typeface="Franklin Gothic Demi"/>
                        </a:rPr>
                        <a:t>Patient</a:t>
                      </a:r>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Create and manage personal account credentials securely</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Register and update personal and insurance information</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View detailed treatment history and progress</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Access billing statements, payment history, and lab results digitally</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Receive notifications about appointments, test results, and billing</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Raise queries or support requests</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Maintain privacy settings and consent for data sharing</a:t>
                      </a:r>
                      <a:endParaRPr lang="en-US" sz="1600" dirty="0"/>
                    </a:p>
                  </a:txBody>
                  <a:tcPr anchor="ctr">
                    <a:solidFill>
                      <a:schemeClr val="bg1">
                        <a:lumMod val="95000"/>
                      </a:schemeClr>
                    </a:solidFill>
                  </a:tcPr>
                </a:tc>
                <a:extLst>
                  <a:ext uri="{0D108BD9-81ED-4DB2-BD59-A6C34878D82A}">
                    <a16:rowId xmlns:a16="http://schemas.microsoft.com/office/drawing/2014/main" val="3332989431"/>
                  </a:ext>
                </a:extLst>
              </a:tr>
              <a:tr h="368064">
                <a:tc>
                  <a:txBody>
                    <a:bodyPr/>
                    <a:lstStyle/>
                    <a:p>
                      <a:pPr lvl="0" algn="l">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742950" marR="0" lvl="2" indent="-283210" algn="l">
                        <a:lnSpc>
                          <a:spcPct val="100000"/>
                        </a:lnSpc>
                        <a:spcBef>
                          <a:spcPts val="0"/>
                        </a:spcBef>
                        <a:spcAft>
                          <a:spcPts val="0"/>
                        </a:spcAft>
                        <a:buClr>
                          <a:srgbClr val="000000"/>
                        </a:buClr>
                        <a:buFont typeface="Wingdings,Sans-Serif"/>
                        <a:buChar char="§"/>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975050312"/>
                  </a:ext>
                </a:extLst>
              </a:tr>
            </a:tbl>
          </a:graphicData>
        </a:graphic>
      </p:graphicFrame>
    </p:spTree>
    <p:extLst>
      <p:ext uri="{BB962C8B-B14F-4D97-AF65-F5344CB8AC3E}">
        <p14:creationId xmlns:p14="http://schemas.microsoft.com/office/powerpoint/2010/main" val="3664019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DCB0D-957E-8F96-3C12-902211BD2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CA023-9FA5-E086-E909-5A7976E350D5}"/>
              </a:ext>
            </a:extLst>
          </p:cNvPr>
          <p:cNvSpPr>
            <a:spLocks noGrp="1"/>
          </p:cNvSpPr>
          <p:nvPr>
            <p:ph type="ctrTitle"/>
          </p:nvPr>
        </p:nvSpPr>
        <p:spPr>
          <a:xfrm>
            <a:off x="226318" y="195963"/>
            <a:ext cx="5212080" cy="741680"/>
          </a:xfrm>
        </p:spPr>
        <p:txBody>
          <a:bodyPr vert="horz" lIns="91440" tIns="45720" rIns="91440" bIns="45720" rtlCol="0" anchor="ctr">
            <a:normAutofit/>
          </a:bodyPr>
          <a:lstStyle/>
          <a:p>
            <a:r>
              <a:rPr lang="en-US" sz="3200" b="1" dirty="0"/>
              <a:t>Actors &amp; Their Roles</a:t>
            </a:r>
          </a:p>
        </p:txBody>
      </p:sp>
      <p:pic>
        <p:nvPicPr>
          <p:cNvPr id="4" name="Picture 3" descr="Logo&#10;&#10;Description automatically generated">
            <a:extLst>
              <a:ext uri="{FF2B5EF4-FFF2-40B4-BE49-F238E27FC236}">
                <a16:creationId xmlns:a16="http://schemas.microsoft.com/office/drawing/2014/main" id="{1A5BA89D-537D-52D4-20DB-40CB58A683E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799CAA33-E3D7-2741-2923-75678B977DF5}"/>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2425060D-FA20-6F4B-BC6B-1EB188DB6FE6}"/>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BED5A0A9-E784-C75C-D7FE-FF94A0187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8AE988AF-DA30-75A9-1830-0AE32774C76F}"/>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081E0987-D641-F874-CFE3-CAD1462A4D89}"/>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AB2E5284-F950-6443-F002-209B4272DFC7}"/>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2BDCACF9-4613-25E1-14F7-EE25396D7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36EAAC25-26A7-1D3F-1A78-4AD3EC735FD4}"/>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graphicFrame>
        <p:nvGraphicFramePr>
          <p:cNvPr id="14" name="Table 13">
            <a:extLst>
              <a:ext uri="{FF2B5EF4-FFF2-40B4-BE49-F238E27FC236}">
                <a16:creationId xmlns:a16="http://schemas.microsoft.com/office/drawing/2014/main" id="{7F664064-CA6B-540D-ABD8-AD36610C6695}"/>
              </a:ext>
            </a:extLst>
          </p:cNvPr>
          <p:cNvGraphicFramePr>
            <a:graphicFrameLocks noGrp="1"/>
          </p:cNvGraphicFramePr>
          <p:nvPr>
            <p:extLst>
              <p:ext uri="{D42A27DB-BD31-4B8C-83A1-F6EECF244321}">
                <p14:modId xmlns:p14="http://schemas.microsoft.com/office/powerpoint/2010/main" val="739398922"/>
              </p:ext>
            </p:extLst>
          </p:nvPr>
        </p:nvGraphicFramePr>
        <p:xfrm>
          <a:off x="230605" y="1042736"/>
          <a:ext cx="11607799" cy="5547298"/>
        </p:xfrm>
        <a:graphic>
          <a:graphicData uri="http://schemas.openxmlformats.org/drawingml/2006/table">
            <a:tbl>
              <a:tblPr firstRow="1" bandRow="1">
                <a:tableStyleId>{5C22544A-7EE6-4342-B048-85BDC9FD1C3A}</a:tableStyleId>
              </a:tblPr>
              <a:tblGrid>
                <a:gridCol w="2920999">
                  <a:extLst>
                    <a:ext uri="{9D8B030D-6E8A-4147-A177-3AD203B41FA5}">
                      <a16:colId xmlns:a16="http://schemas.microsoft.com/office/drawing/2014/main" val="3144508012"/>
                    </a:ext>
                  </a:extLst>
                </a:gridCol>
                <a:gridCol w="8686800">
                  <a:extLst>
                    <a:ext uri="{9D8B030D-6E8A-4147-A177-3AD203B41FA5}">
                      <a16:colId xmlns:a16="http://schemas.microsoft.com/office/drawing/2014/main" val="2858299335"/>
                    </a:ext>
                  </a:extLst>
                </a:gridCol>
              </a:tblGrid>
              <a:tr h="517178">
                <a:tc>
                  <a:txBody>
                    <a:bodyPr/>
                    <a:lstStyle/>
                    <a:p>
                      <a:pPr lvl="0" algn="ctr">
                        <a:buNone/>
                      </a:pPr>
                      <a:r>
                        <a:rPr lang="en-US" sz="3000" b="1" i="0" u="none" strike="noStrike" noProof="0" dirty="0">
                          <a:latin typeface="Aptos"/>
                        </a:rPr>
                        <a:t>Actor</a:t>
                      </a:r>
                      <a:endParaRPr lang="en-US" sz="3000" b="1" dirty="0"/>
                    </a:p>
                  </a:txBody>
                  <a:tcPr anchor="ctr">
                    <a:solidFill>
                      <a:schemeClr val="tx1"/>
                    </a:solidFill>
                  </a:tcPr>
                </a:tc>
                <a:tc>
                  <a:txBody>
                    <a:bodyPr/>
                    <a:lstStyle/>
                    <a:p>
                      <a:pPr lvl="0" algn="ctr">
                        <a:buNone/>
                      </a:pPr>
                      <a:r>
                        <a:rPr lang="en-US" sz="3000" b="1" i="0" u="none" strike="noStrike" noProof="0" dirty="0">
                          <a:latin typeface="Aptos"/>
                        </a:rPr>
                        <a:t>Primary Responsibilities</a:t>
                      </a:r>
                      <a:endParaRPr lang="en-US" sz="3000" b="1" dirty="0"/>
                    </a:p>
                  </a:txBody>
                  <a:tcPr anchor="ctr">
                    <a:solidFill>
                      <a:schemeClr val="tx1"/>
                    </a:solidFill>
                  </a:tcPr>
                </a:tc>
                <a:extLst>
                  <a:ext uri="{0D108BD9-81ED-4DB2-BD59-A6C34878D82A}">
                    <a16:rowId xmlns:a16="http://schemas.microsoft.com/office/drawing/2014/main" val="1481048565"/>
                  </a:ext>
                </a:extLst>
              </a:tr>
              <a:tr h="2232033">
                <a:tc>
                  <a:txBody>
                    <a:bodyPr/>
                    <a:lstStyle/>
                    <a:p>
                      <a:pPr lvl="0" algn="l">
                        <a:buNone/>
                      </a:pPr>
                      <a:r>
                        <a:rPr lang="en-US" sz="2400" b="1" i="0" u="none" strike="noStrike" baseline="0" noProof="0" dirty="0">
                          <a:solidFill>
                            <a:srgbClr val="000000"/>
                          </a:solidFill>
                          <a:latin typeface="Aptos Display"/>
                        </a:rPr>
                        <a:t>Support Staff (Nurse / Attender / Lab Technician)</a:t>
                      </a:r>
                      <a:endParaRPr lang="en-US" dirty="0"/>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Clr>
                          <a:srgbClr val="000000"/>
                        </a:buClr>
                        <a:buFont typeface="Arial"/>
                        <a:buChar char="•"/>
                      </a:pPr>
                      <a:r>
                        <a:rPr lang="en-US" sz="1600" b="0" i="0" u="none" strike="noStrike" noProof="0" dirty="0">
                          <a:solidFill>
                            <a:srgbClr val="000000"/>
                          </a:solidFill>
                          <a:latin typeface="Aptos"/>
                        </a:rPr>
                        <a:t>Preauthorization of Patient</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Admit patients: register patients</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Manage patient data and medical information during admission and stay.</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Submit and track insurance claims of Each patient</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Upload required medical bills, reports, and discharge summaries.</a:t>
                      </a: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Respond to queries or requests for medical documents.</a:t>
                      </a:r>
                    </a:p>
                  </a:txBody>
                  <a:tcPr anchor="ctr">
                    <a:solidFill>
                      <a:schemeClr val="bg1">
                        <a:lumMod val="95000"/>
                      </a:schemeClr>
                    </a:solidFill>
                  </a:tcPr>
                </a:tc>
                <a:extLst>
                  <a:ext uri="{0D108BD9-81ED-4DB2-BD59-A6C34878D82A}">
                    <a16:rowId xmlns:a16="http://schemas.microsoft.com/office/drawing/2014/main" val="2392717345"/>
                  </a:ext>
                </a:extLst>
              </a:tr>
              <a:tr h="2300092">
                <a:tc>
                  <a:txBody>
                    <a:bodyPr/>
                    <a:lstStyle/>
                    <a:p>
                      <a:pPr lvl="0" algn="l">
                        <a:lnSpc>
                          <a:spcPct val="100000"/>
                        </a:lnSpc>
                        <a:spcBef>
                          <a:spcPts val="0"/>
                        </a:spcBef>
                        <a:spcAft>
                          <a:spcPts val="0"/>
                        </a:spcAft>
                        <a:buNone/>
                      </a:pPr>
                      <a:r>
                        <a:rPr lang="en-US" sz="2400" b="1" i="0" u="none" strike="noStrike" noProof="0" dirty="0">
                          <a:solidFill>
                            <a:srgbClr val="000000"/>
                          </a:solidFill>
                          <a:latin typeface="Aptos Display"/>
                        </a:rPr>
                        <a:t>Front Desk</a:t>
                      </a:r>
                    </a:p>
                    <a:p>
                      <a:pPr marL="0" marR="0" lvl="0" indent="0" algn="l">
                        <a:lnSpc>
                          <a:spcPct val="80000"/>
                        </a:lnSpc>
                        <a:spcBef>
                          <a:spcPct val="0"/>
                        </a:spcBef>
                        <a:spcAft>
                          <a:spcPts val="0"/>
                        </a:spcAft>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Register and align patients with their specific doctors</a:t>
                      </a:r>
                      <a:endParaRPr lang="en-US" sz="1600"/>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Track and update real-time status of patients (waiting, under consultation, completed, etc.)</a:t>
                      </a:r>
                      <a:endParaRPr lang="en-US" sz="1600" b="0" i="0" u="none" strike="noStrike" noProof="0">
                        <a:solidFill>
                          <a:srgbClr val="000000"/>
                        </a:solidFill>
                        <a:latin typeface="Aptos"/>
                      </a:endParaRP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Redirect and escalate patient requests to the appropriate support staff promptly</a:t>
                      </a:r>
                      <a:endParaRPr lang="en-US" sz="1600" b="0" i="0" u="none" strike="noStrike" noProof="0">
                        <a:solidFill>
                          <a:srgbClr val="000000"/>
                        </a:solidFill>
                        <a:latin typeface="Aptos"/>
                      </a:endParaRP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 Manage appointment scheduling and rescheduling</a:t>
                      </a:r>
                      <a:endParaRPr lang="en-US" sz="1600" b="0" i="0" u="none" strike="noStrike" noProof="0">
                        <a:solidFill>
                          <a:srgbClr val="000000"/>
                        </a:solidFill>
                        <a:latin typeface="Aptos"/>
                      </a:endParaRPr>
                    </a:p>
                    <a:p>
                      <a:pPr marL="285750" marR="0" lvl="0" indent="-285750" algn="l">
                        <a:lnSpc>
                          <a:spcPct val="90000"/>
                        </a:lnSpc>
                        <a:spcBef>
                          <a:spcPts val="1000"/>
                        </a:spcBef>
                        <a:spcAft>
                          <a:spcPts val="0"/>
                        </a:spcAft>
                        <a:buFont typeface="Arial"/>
                        <a:buChar char="•"/>
                      </a:pPr>
                      <a:r>
                        <a:rPr lang="en-US" sz="1600" b="0" i="0" u="none" strike="noStrike" noProof="0" dirty="0">
                          <a:solidFill>
                            <a:srgbClr val="000000"/>
                          </a:solidFill>
                          <a:latin typeface="Aptos"/>
                        </a:rPr>
                        <a:t>Verify patient identity and appointment details during check-in</a:t>
                      </a:r>
                      <a:endParaRPr lang="en-US" dirty="0"/>
                    </a:p>
                    <a:p>
                      <a:pPr marL="285750" marR="0" lvl="0" indent="-285750" algn="l">
                        <a:lnSpc>
                          <a:spcPct val="90000"/>
                        </a:lnSpc>
                        <a:spcBef>
                          <a:spcPts val="1000"/>
                        </a:spcBef>
                        <a:spcAft>
                          <a:spcPts val="0"/>
                        </a:spcAft>
                        <a:buFont typeface="Arial"/>
                        <a:buChar char="•"/>
                      </a:pPr>
                      <a:endParaRPr lang="en-US" sz="1600" b="0" i="0" u="none" strike="noStrike" noProof="0" dirty="0">
                        <a:solidFill>
                          <a:srgbClr val="000000"/>
                        </a:solidFill>
                        <a:latin typeface="Aptos"/>
                      </a:endParaRPr>
                    </a:p>
                    <a:p>
                      <a:pPr marL="459740" marR="0" lvl="2" indent="0" algn="l">
                        <a:lnSpc>
                          <a:spcPct val="100000"/>
                        </a:lnSpc>
                        <a:spcBef>
                          <a:spcPts val="0"/>
                        </a:spcBef>
                        <a:spcAft>
                          <a:spcPts val="0"/>
                        </a:spcAft>
                        <a:buNone/>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3332989431"/>
                  </a:ext>
                </a:extLst>
              </a:tr>
              <a:tr h="449129">
                <a:tc>
                  <a:txBody>
                    <a:bodyPr/>
                    <a:lstStyle/>
                    <a:p>
                      <a:pPr lvl="0" algn="l">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742950" marR="0" lvl="2" indent="-283210" algn="l">
                        <a:lnSpc>
                          <a:spcPct val="100000"/>
                        </a:lnSpc>
                        <a:spcBef>
                          <a:spcPts val="0"/>
                        </a:spcBef>
                        <a:spcAft>
                          <a:spcPts val="0"/>
                        </a:spcAft>
                        <a:buClr>
                          <a:srgbClr val="000000"/>
                        </a:buClr>
                        <a:buFont typeface="Wingdings,Sans-Serif"/>
                        <a:buChar char="§"/>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975050312"/>
                  </a:ext>
                </a:extLst>
              </a:tr>
            </a:tbl>
          </a:graphicData>
        </a:graphic>
      </p:graphicFrame>
    </p:spTree>
    <p:extLst>
      <p:ext uri="{BB962C8B-B14F-4D97-AF65-F5344CB8AC3E}">
        <p14:creationId xmlns:p14="http://schemas.microsoft.com/office/powerpoint/2010/main" val="2941978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2E31-79A7-B199-F101-1A568F616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8E886-D08C-1F27-E953-AB9B02E8C533}"/>
              </a:ext>
            </a:extLst>
          </p:cNvPr>
          <p:cNvSpPr>
            <a:spLocks noGrp="1"/>
          </p:cNvSpPr>
          <p:nvPr>
            <p:ph type="ctrTitle"/>
          </p:nvPr>
        </p:nvSpPr>
        <p:spPr>
          <a:xfrm>
            <a:off x="226318" y="195963"/>
            <a:ext cx="5212080" cy="741680"/>
          </a:xfrm>
        </p:spPr>
        <p:txBody>
          <a:bodyPr vert="horz" lIns="91440" tIns="45720" rIns="91440" bIns="45720" rtlCol="0" anchor="ctr">
            <a:normAutofit/>
          </a:bodyPr>
          <a:lstStyle/>
          <a:p>
            <a:r>
              <a:rPr lang="en-US" sz="3200" b="1" dirty="0"/>
              <a:t>Actors &amp; Their Roles</a:t>
            </a:r>
          </a:p>
        </p:txBody>
      </p:sp>
      <p:pic>
        <p:nvPicPr>
          <p:cNvPr id="4" name="Picture 3" descr="Logo&#10;&#10;Description automatically generated">
            <a:extLst>
              <a:ext uri="{FF2B5EF4-FFF2-40B4-BE49-F238E27FC236}">
                <a16:creationId xmlns:a16="http://schemas.microsoft.com/office/drawing/2014/main" id="{5AC65A9C-279C-3ED4-833C-F905DC3CC367}"/>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88BB2D78-76EF-C517-A540-E64F1B703E33}"/>
              </a:ext>
            </a:extLst>
          </p:cNvPr>
          <p:cNvGrpSpPr/>
          <p:nvPr/>
        </p:nvGrpSpPr>
        <p:grpSpPr>
          <a:xfrm>
            <a:off x="225730" y="6192199"/>
            <a:ext cx="11731301" cy="492167"/>
            <a:chOff x="632130" y="7133055"/>
            <a:chExt cx="11691611" cy="633344"/>
          </a:xfrm>
        </p:grpSpPr>
        <p:grpSp>
          <p:nvGrpSpPr>
            <p:cNvPr id="6" name="Group 5">
              <a:extLst>
                <a:ext uri="{FF2B5EF4-FFF2-40B4-BE49-F238E27FC236}">
                  <a16:creationId xmlns:a16="http://schemas.microsoft.com/office/drawing/2014/main" id="{8787CE82-92BF-B4A6-BF04-2A1184EBAA79}"/>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CDAC57BE-3BE3-92E2-8E12-004AFAA90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4C155A40-5A6C-5E3A-8F7F-B516A4EF4478}"/>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518858E1-E918-3CF4-0233-B426812199A1}"/>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DC69341D-27B8-E2C0-D550-5B277C82EBB4}"/>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A9C6DE45-3BFF-032C-4A90-084A5A18F4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FCEF6EF6-B946-895A-F674-655B679D1E0D}"/>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graphicFrame>
        <p:nvGraphicFramePr>
          <p:cNvPr id="14" name="Table 13">
            <a:extLst>
              <a:ext uri="{FF2B5EF4-FFF2-40B4-BE49-F238E27FC236}">
                <a16:creationId xmlns:a16="http://schemas.microsoft.com/office/drawing/2014/main" id="{EED4E3DA-2575-0C6E-F92B-4C277D8C53B7}"/>
              </a:ext>
            </a:extLst>
          </p:cNvPr>
          <p:cNvGraphicFramePr>
            <a:graphicFrameLocks noGrp="1"/>
          </p:cNvGraphicFramePr>
          <p:nvPr>
            <p:extLst>
              <p:ext uri="{D42A27DB-BD31-4B8C-83A1-F6EECF244321}">
                <p14:modId xmlns:p14="http://schemas.microsoft.com/office/powerpoint/2010/main" val="3594064897"/>
              </p:ext>
            </p:extLst>
          </p:nvPr>
        </p:nvGraphicFramePr>
        <p:xfrm>
          <a:off x="230605" y="1042736"/>
          <a:ext cx="11607799" cy="3229802"/>
        </p:xfrm>
        <a:graphic>
          <a:graphicData uri="http://schemas.openxmlformats.org/drawingml/2006/table">
            <a:tbl>
              <a:tblPr firstRow="1" bandRow="1">
                <a:tableStyleId>{5C22544A-7EE6-4342-B048-85BDC9FD1C3A}</a:tableStyleId>
              </a:tblPr>
              <a:tblGrid>
                <a:gridCol w="2920999">
                  <a:extLst>
                    <a:ext uri="{9D8B030D-6E8A-4147-A177-3AD203B41FA5}">
                      <a16:colId xmlns:a16="http://schemas.microsoft.com/office/drawing/2014/main" val="3144508012"/>
                    </a:ext>
                  </a:extLst>
                </a:gridCol>
                <a:gridCol w="8686800">
                  <a:extLst>
                    <a:ext uri="{9D8B030D-6E8A-4147-A177-3AD203B41FA5}">
                      <a16:colId xmlns:a16="http://schemas.microsoft.com/office/drawing/2014/main" val="2858299335"/>
                    </a:ext>
                  </a:extLst>
                </a:gridCol>
              </a:tblGrid>
              <a:tr h="517178">
                <a:tc>
                  <a:txBody>
                    <a:bodyPr/>
                    <a:lstStyle/>
                    <a:p>
                      <a:pPr lvl="0" algn="ctr">
                        <a:buNone/>
                      </a:pPr>
                      <a:r>
                        <a:rPr lang="en-US" sz="3000" b="1" i="0" u="none" strike="noStrike" noProof="0" dirty="0">
                          <a:latin typeface="Aptos"/>
                        </a:rPr>
                        <a:t>Actor</a:t>
                      </a:r>
                      <a:endParaRPr lang="en-US" sz="3000" b="1" dirty="0"/>
                    </a:p>
                  </a:txBody>
                  <a:tcPr anchor="ctr">
                    <a:solidFill>
                      <a:schemeClr val="tx1"/>
                    </a:solidFill>
                  </a:tcPr>
                </a:tc>
                <a:tc>
                  <a:txBody>
                    <a:bodyPr/>
                    <a:lstStyle/>
                    <a:p>
                      <a:pPr lvl="0" algn="ctr">
                        <a:buNone/>
                      </a:pPr>
                      <a:r>
                        <a:rPr lang="en-US" sz="3000" b="1" i="0" u="none" strike="noStrike" noProof="0" dirty="0">
                          <a:latin typeface="Aptos"/>
                        </a:rPr>
                        <a:t>Primary Responsibilities</a:t>
                      </a:r>
                      <a:endParaRPr lang="en-US" sz="3000" b="1" dirty="0"/>
                    </a:p>
                  </a:txBody>
                  <a:tcPr anchor="ctr">
                    <a:solidFill>
                      <a:schemeClr val="tx1"/>
                    </a:solidFill>
                  </a:tcPr>
                </a:tc>
                <a:extLst>
                  <a:ext uri="{0D108BD9-81ED-4DB2-BD59-A6C34878D82A}">
                    <a16:rowId xmlns:a16="http://schemas.microsoft.com/office/drawing/2014/main" val="1481048565"/>
                  </a:ext>
                </a:extLst>
              </a:tr>
              <a:tr h="2232033">
                <a:tc>
                  <a:txBody>
                    <a:bodyPr/>
                    <a:lstStyle/>
                    <a:p>
                      <a:pPr lvl="0" algn="l">
                        <a:buNone/>
                      </a:pPr>
                      <a:r>
                        <a:rPr lang="en-US" sz="2400" b="1" i="0" u="none" strike="noStrike" baseline="0" noProof="0" dirty="0">
                          <a:solidFill>
                            <a:srgbClr val="000000"/>
                          </a:solidFill>
                          <a:latin typeface="Aptos Display"/>
                        </a:rPr>
                        <a:t>       Billing Desk</a:t>
                      </a:r>
                      <a:endParaRPr lang="en-US" dirty="0"/>
                    </a:p>
                  </a:txBody>
                  <a:tcPr anchor="ctr">
                    <a:solidFill>
                      <a:schemeClr val="bg1">
                        <a:lumMod val="95000"/>
                      </a:schemeClr>
                    </a:solidFill>
                  </a:tcPr>
                </a:tc>
                <a:tc>
                  <a:txBody>
                    <a:bodyPr/>
                    <a:lstStyle/>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Validate treatment codes and types prior to billing</a:t>
                      </a:r>
                      <a:endParaRPr lang="en-US" dirty="0"/>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Generate accurate bills based on all treatments, investigations, and medicines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Process payments via cash, credit, insurance claims, or other modes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Manage billing disputes and queries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Generate financial reports and audit trails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Ensure compliance with regulatory and insurance requirements</a:t>
                      </a:r>
                    </a:p>
                    <a:p>
                      <a:pPr marL="285750" marR="0" lvl="0" indent="-285750" algn="l">
                        <a:lnSpc>
                          <a:spcPct val="90000"/>
                        </a:lnSpc>
                        <a:spcBef>
                          <a:spcPts val="1000"/>
                        </a:spcBef>
                        <a:spcAft>
                          <a:spcPts val="0"/>
                        </a:spcAft>
                        <a:buClr>
                          <a:srgbClr val="000000"/>
                        </a:buClr>
                        <a:buFont typeface="Arial"/>
                        <a:buChar char="•"/>
                      </a:pPr>
                      <a:r>
                        <a:rPr lang="en-US" sz="1200" b="0" i="0" u="none" strike="noStrike" noProof="0" dirty="0">
                          <a:solidFill>
                            <a:srgbClr val="000000"/>
                          </a:solidFill>
                        </a:rPr>
                        <a:t> Coordinate with patients and insurance providers for claims processing</a:t>
                      </a:r>
                      <a:endParaRPr lang="en-US"/>
                    </a:p>
                  </a:txBody>
                  <a:tcPr anchor="ctr">
                    <a:solidFill>
                      <a:schemeClr val="bg1">
                        <a:lumMod val="95000"/>
                      </a:schemeClr>
                    </a:solidFill>
                  </a:tcPr>
                </a:tc>
                <a:extLst>
                  <a:ext uri="{0D108BD9-81ED-4DB2-BD59-A6C34878D82A}">
                    <a16:rowId xmlns:a16="http://schemas.microsoft.com/office/drawing/2014/main" val="2392717345"/>
                  </a:ext>
                </a:extLst>
              </a:tr>
              <a:tr h="449129">
                <a:tc>
                  <a:txBody>
                    <a:bodyPr/>
                    <a:lstStyle/>
                    <a:p>
                      <a:pPr lvl="0" algn="l">
                        <a:buNone/>
                      </a:pPr>
                      <a:endParaRPr lang="en-US" sz="1800" b="0" i="0" u="none" strike="noStrike" noProof="0" dirty="0">
                        <a:solidFill>
                          <a:srgbClr val="000000"/>
                        </a:solidFill>
                        <a:latin typeface="Franklin Gothic Demi"/>
                      </a:endParaRPr>
                    </a:p>
                  </a:txBody>
                  <a:tcPr anchor="ctr">
                    <a:solidFill>
                      <a:schemeClr val="bg1">
                        <a:lumMod val="95000"/>
                      </a:schemeClr>
                    </a:solidFill>
                  </a:tcPr>
                </a:tc>
                <a:tc>
                  <a:txBody>
                    <a:bodyPr/>
                    <a:lstStyle/>
                    <a:p>
                      <a:pPr marL="742950" marR="0" lvl="2" indent="-283210" algn="l">
                        <a:lnSpc>
                          <a:spcPct val="100000"/>
                        </a:lnSpc>
                        <a:spcBef>
                          <a:spcPts val="0"/>
                        </a:spcBef>
                        <a:spcAft>
                          <a:spcPts val="0"/>
                        </a:spcAft>
                        <a:buClr>
                          <a:srgbClr val="000000"/>
                        </a:buClr>
                        <a:buFont typeface="Wingdings,Sans-Serif"/>
                        <a:buChar char="§"/>
                      </a:pPr>
                      <a:endParaRPr lang="en-US" sz="1800" b="0" i="0" u="none" strike="noStrike" noProof="0" dirty="0">
                        <a:solidFill>
                          <a:srgbClr val="7CA655"/>
                        </a:solidFill>
                        <a:latin typeface="Franklin Gothic Demi"/>
                      </a:endParaRPr>
                    </a:p>
                  </a:txBody>
                  <a:tcPr anchor="ctr">
                    <a:solidFill>
                      <a:schemeClr val="bg1">
                        <a:lumMod val="95000"/>
                      </a:schemeClr>
                    </a:solidFill>
                  </a:tcPr>
                </a:tc>
                <a:extLst>
                  <a:ext uri="{0D108BD9-81ED-4DB2-BD59-A6C34878D82A}">
                    <a16:rowId xmlns:a16="http://schemas.microsoft.com/office/drawing/2014/main" val="975050312"/>
                  </a:ext>
                </a:extLst>
              </a:tr>
            </a:tbl>
          </a:graphicData>
        </a:graphic>
      </p:graphicFrame>
    </p:spTree>
    <p:extLst>
      <p:ext uri="{BB962C8B-B14F-4D97-AF65-F5344CB8AC3E}">
        <p14:creationId xmlns:p14="http://schemas.microsoft.com/office/powerpoint/2010/main" val="1500176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3B98E-D7EA-A7C9-B1BF-6CD399AEB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B8CD6-5EE2-FE57-CBF4-9911E3DF296C}"/>
              </a:ext>
            </a:extLst>
          </p:cNvPr>
          <p:cNvSpPr>
            <a:spLocks noGrp="1"/>
          </p:cNvSpPr>
          <p:nvPr>
            <p:ph type="ctrTitle"/>
          </p:nvPr>
        </p:nvSpPr>
        <p:spPr>
          <a:xfrm>
            <a:off x="223520" y="199693"/>
            <a:ext cx="4865868" cy="654870"/>
          </a:xfrm>
        </p:spPr>
        <p:txBody>
          <a:bodyPr vert="horz" lIns="91440" tIns="45720" rIns="91440" bIns="45720" rtlCol="0" anchor="ctr">
            <a:noAutofit/>
          </a:bodyPr>
          <a:lstStyle/>
          <a:p>
            <a:r>
              <a:rPr lang="en-US" sz="3600" b="1" dirty="0"/>
              <a:t>System Architecture</a:t>
            </a:r>
            <a:endParaRPr lang="en-US" sz="3600" dirty="0"/>
          </a:p>
        </p:txBody>
      </p:sp>
      <p:sp>
        <p:nvSpPr>
          <p:cNvPr id="3" name="Subtitle 2">
            <a:extLst>
              <a:ext uri="{FF2B5EF4-FFF2-40B4-BE49-F238E27FC236}">
                <a16:creationId xmlns:a16="http://schemas.microsoft.com/office/drawing/2014/main" id="{0E8E2582-3DB8-C3EA-3517-451FFAE2CDA7}"/>
              </a:ext>
            </a:extLst>
          </p:cNvPr>
          <p:cNvSpPr>
            <a:spLocks noGrp="1"/>
          </p:cNvSpPr>
          <p:nvPr>
            <p:ph type="subTitle" idx="1"/>
          </p:nvPr>
        </p:nvSpPr>
        <p:spPr>
          <a:xfrm>
            <a:off x="221703" y="1291347"/>
            <a:ext cx="11724640" cy="4896802"/>
          </a:xfrm>
        </p:spPr>
        <p:txBody>
          <a:bodyPr vert="horz" lIns="91440" tIns="45720" rIns="91440" bIns="45720" rtlCol="0" anchor="ctr">
            <a:normAutofit fontScale="25000" lnSpcReduction="20000"/>
          </a:bodyPr>
          <a:lstStyle/>
          <a:p>
            <a:pPr marL="342900" indent="-342900" algn="l">
              <a:buChar char="•"/>
            </a:pPr>
            <a:endParaRPr lang="en-US" b="1" dirty="0">
              <a:ea typeface="+mn-lt"/>
              <a:cs typeface="+mn-lt"/>
            </a:endParaRPr>
          </a:p>
          <a:p>
            <a:pPr marL="342900" indent="-342900" algn="l">
              <a:buChar char="•"/>
            </a:pPr>
            <a:endParaRPr lang="en-US" b="1" dirty="0">
              <a:ea typeface="+mn-lt"/>
              <a:cs typeface="+mn-lt"/>
            </a:endParaRPr>
          </a:p>
          <a:p>
            <a:pPr algn="l"/>
            <a:r>
              <a:rPr lang="en-US" sz="8000" b="1" dirty="0">
                <a:solidFill>
                  <a:schemeClr val="accent3"/>
                </a:solidFill>
              </a:rPr>
              <a:t>Database (MongoDB):</a:t>
            </a:r>
            <a:endParaRPr lang="en-US" sz="8000" dirty="0">
              <a:solidFill>
                <a:schemeClr val="accent3"/>
              </a:solidFill>
            </a:endParaRPr>
          </a:p>
          <a:p>
            <a:pPr algn="just"/>
            <a:r>
              <a:rPr lang="en-US" sz="7200" b="1">
                <a:latin typeface="Aptos"/>
                <a:ea typeface="+mn-lt"/>
                <a:cs typeface="+mn-lt"/>
              </a:rPr>
              <a:t>1.   Users and Roles:</a:t>
            </a:r>
            <a:r>
              <a:rPr lang="en-US" sz="7200" dirty="0">
                <a:latin typeface="Aptos"/>
                <a:ea typeface="+mn-lt"/>
                <a:cs typeface="+mn-lt"/>
              </a:rPr>
              <a:t> users, roles, and </a:t>
            </a:r>
            <a:r>
              <a:rPr lang="en-US" sz="7200" err="1">
                <a:latin typeface="Aptos"/>
                <a:ea typeface="+mn-lt"/>
                <a:cs typeface="+mn-lt"/>
              </a:rPr>
              <a:t>otps</a:t>
            </a:r>
            <a:r>
              <a:rPr lang="en-US" sz="7200" dirty="0">
                <a:latin typeface="Aptos"/>
                <a:ea typeface="+mn-lt"/>
                <a:cs typeface="+mn-lt"/>
              </a:rPr>
              <a:t> manage all user types and their permissions.</a:t>
            </a:r>
            <a:endParaRPr lang="en-US" sz="7200" b="1" dirty="0">
              <a:latin typeface="Aptos"/>
              <a:ea typeface="+mn-lt"/>
              <a:cs typeface="+mn-lt"/>
            </a:endParaRPr>
          </a:p>
          <a:p>
            <a:pPr algn="just"/>
            <a:r>
              <a:rPr lang="en-US" sz="7200" dirty="0">
                <a:latin typeface="Aptos"/>
                <a:ea typeface="+mn-lt"/>
                <a:cs typeface="+mn-lt"/>
              </a:rPr>
              <a:t> </a:t>
            </a:r>
            <a:r>
              <a:rPr lang="en-US" sz="7200" b="1" dirty="0">
                <a:latin typeface="Aptos"/>
                <a:ea typeface="+mn-lt"/>
                <a:cs typeface="+mn-lt"/>
              </a:rPr>
              <a:t>2. Patient Journey:</a:t>
            </a:r>
            <a:r>
              <a:rPr lang="en-US" sz="7200" dirty="0">
                <a:latin typeface="Aptos"/>
                <a:ea typeface="+mn-lt"/>
                <a:cs typeface="+mn-lt"/>
              </a:rPr>
              <a:t> patients, appointments, </a:t>
            </a:r>
            <a:r>
              <a:rPr lang="en-US" sz="7200" dirty="0" err="1">
                <a:latin typeface="Aptos"/>
                <a:ea typeface="+mn-lt"/>
                <a:cs typeface="+mn-lt"/>
              </a:rPr>
              <a:t>medical_records</a:t>
            </a:r>
            <a:r>
              <a:rPr lang="en-US" sz="7200" dirty="0">
                <a:latin typeface="Aptos"/>
                <a:ea typeface="+mn-lt"/>
                <a:cs typeface="+mn-lt"/>
              </a:rPr>
              <a:t>, prescriptions, </a:t>
            </a:r>
            <a:r>
              <a:rPr lang="en-US" sz="7200" dirty="0" err="1">
                <a:latin typeface="Aptos"/>
                <a:ea typeface="+mn-lt"/>
                <a:cs typeface="+mn-lt"/>
              </a:rPr>
              <a:t>nurse_checkups</a:t>
            </a:r>
            <a:r>
              <a:rPr lang="en-US" sz="7200" dirty="0">
                <a:latin typeface="Aptos"/>
                <a:ea typeface="+mn-lt"/>
                <a:cs typeface="+mn-lt"/>
              </a:rPr>
              <a:t>,  </a:t>
            </a:r>
            <a:r>
              <a:rPr lang="en-US" sz="7200" dirty="0" err="1">
                <a:latin typeface="Aptos"/>
                <a:ea typeface="+mn-lt"/>
                <a:cs typeface="+mn-lt"/>
              </a:rPr>
              <a:t>diagnostic_tests</a:t>
            </a:r>
            <a:r>
              <a:rPr lang="en-US" sz="7200" dirty="0">
                <a:latin typeface="Aptos"/>
                <a:ea typeface="+mn-lt"/>
                <a:cs typeface="+mn-lt"/>
              </a:rPr>
              <a:t>, and </a:t>
            </a:r>
            <a:r>
              <a:rPr lang="en-US" sz="7200" dirty="0" err="1">
                <a:latin typeface="Aptos"/>
                <a:ea typeface="+mn-lt"/>
                <a:cs typeface="+mn-lt"/>
              </a:rPr>
              <a:t>doctors_rating</a:t>
            </a:r>
            <a:r>
              <a:rPr lang="en-US" sz="7200" dirty="0">
                <a:latin typeface="Aptos"/>
                <a:ea typeface="+mn-lt"/>
                <a:cs typeface="+mn-lt"/>
              </a:rPr>
              <a:t> cover the clinical patient experience.</a:t>
            </a:r>
            <a:endParaRPr lang="en-US" sz="7200" b="1" dirty="0">
              <a:latin typeface="Aptos"/>
              <a:ea typeface="+mn-lt"/>
              <a:cs typeface="+mn-lt"/>
            </a:endParaRPr>
          </a:p>
          <a:p>
            <a:pPr algn="just"/>
            <a:r>
              <a:rPr lang="en-US" sz="7200" dirty="0">
                <a:latin typeface="Aptos"/>
                <a:ea typeface="+mn-lt"/>
                <a:cs typeface="+mn-lt"/>
              </a:rPr>
              <a:t> </a:t>
            </a:r>
            <a:r>
              <a:rPr lang="en-US" sz="7200" b="1" dirty="0">
                <a:latin typeface="Aptos"/>
                <a:ea typeface="+mn-lt"/>
                <a:cs typeface="+mn-lt"/>
              </a:rPr>
              <a:t>3. Hospital Operations:</a:t>
            </a:r>
            <a:r>
              <a:rPr lang="en-US" sz="7200" dirty="0">
                <a:latin typeface="Aptos"/>
                <a:ea typeface="+mn-lt"/>
                <a:cs typeface="+mn-lt"/>
              </a:rPr>
              <a:t> doctors, </a:t>
            </a:r>
            <a:r>
              <a:rPr lang="en-US" sz="7200" dirty="0" err="1">
                <a:latin typeface="Aptos"/>
                <a:ea typeface="+mn-lt"/>
                <a:cs typeface="+mn-lt"/>
              </a:rPr>
              <a:t>doctor_availabilities</a:t>
            </a:r>
            <a:r>
              <a:rPr lang="en-US" sz="7200" dirty="0">
                <a:latin typeface="Aptos"/>
                <a:ea typeface="+mn-lt"/>
                <a:cs typeface="+mn-lt"/>
              </a:rPr>
              <a:t>, hospitals, rooms, and </a:t>
            </a:r>
            <a:r>
              <a:rPr lang="en-US" sz="7200" dirty="0" err="1">
                <a:latin typeface="Aptos"/>
                <a:ea typeface="+mn-lt"/>
                <a:cs typeface="+mn-lt"/>
              </a:rPr>
              <a:t>room_transfers</a:t>
            </a:r>
            <a:r>
              <a:rPr lang="en-US" sz="7200" dirty="0">
                <a:latin typeface="Aptos"/>
                <a:ea typeface="+mn-lt"/>
                <a:cs typeface="+mn-lt"/>
              </a:rPr>
              <a:t> handle staff and facility management.</a:t>
            </a:r>
            <a:endParaRPr lang="en-US" sz="7200" b="1" dirty="0">
              <a:latin typeface="Aptos"/>
              <a:ea typeface="+mn-lt"/>
              <a:cs typeface="+mn-lt"/>
            </a:endParaRPr>
          </a:p>
          <a:p>
            <a:pPr algn="just"/>
            <a:r>
              <a:rPr lang="en-US" sz="7200" dirty="0">
                <a:latin typeface="Aptos"/>
                <a:ea typeface="+mn-lt"/>
                <a:cs typeface="+mn-lt"/>
              </a:rPr>
              <a:t> </a:t>
            </a:r>
            <a:r>
              <a:rPr lang="en-US" sz="7200" b="1" dirty="0">
                <a:latin typeface="Aptos"/>
                <a:ea typeface="+mn-lt"/>
                <a:cs typeface="+mn-lt"/>
              </a:rPr>
              <a:t>4. Financial &amp; Administrative:</a:t>
            </a:r>
            <a:r>
              <a:rPr lang="en-US" sz="7200" dirty="0">
                <a:latin typeface="Aptos"/>
                <a:ea typeface="+mn-lt"/>
                <a:cs typeface="+mn-lt"/>
              </a:rPr>
              <a:t> bills, </a:t>
            </a:r>
            <a:r>
              <a:rPr lang="en-US" sz="7200" dirty="0" err="1">
                <a:latin typeface="Aptos"/>
                <a:ea typeface="+mn-lt"/>
                <a:cs typeface="+mn-lt"/>
              </a:rPr>
              <a:t>bill_items</a:t>
            </a:r>
            <a:r>
              <a:rPr lang="en-US" sz="7200" dirty="0">
                <a:latin typeface="Aptos"/>
                <a:ea typeface="+mn-lt"/>
                <a:cs typeface="+mn-lt"/>
              </a:rPr>
              <a:t>, policies, </a:t>
            </a:r>
            <a:r>
              <a:rPr lang="en-US" sz="7200" dirty="0" err="1">
                <a:latin typeface="Aptos"/>
                <a:ea typeface="+mn-lt"/>
                <a:cs typeface="+mn-lt"/>
              </a:rPr>
              <a:t>hospital_claims</a:t>
            </a:r>
            <a:r>
              <a:rPr lang="en-US" sz="7200" dirty="0">
                <a:latin typeface="Aptos"/>
                <a:ea typeface="+mn-lt"/>
                <a:cs typeface="+mn-lt"/>
              </a:rPr>
              <a:t>, </a:t>
            </a:r>
            <a:r>
              <a:rPr lang="en-US" sz="7200" dirty="0" err="1">
                <a:latin typeface="Aptos"/>
                <a:ea typeface="+mn-lt"/>
                <a:cs typeface="+mn-lt"/>
              </a:rPr>
              <a:t>hospital_claim_queries</a:t>
            </a:r>
            <a:r>
              <a:rPr lang="en-US" sz="7200" dirty="0">
                <a:latin typeface="Aptos"/>
                <a:ea typeface="+mn-lt"/>
                <a:cs typeface="+mn-lt"/>
              </a:rPr>
              <a:t>, and notifications manage all billing and administrative data</a:t>
            </a:r>
            <a:endParaRPr lang="en-US" sz="7200" b="1" dirty="0">
              <a:latin typeface="Aptos"/>
              <a:ea typeface="+mn-lt"/>
              <a:cs typeface="+mn-lt"/>
            </a:endParaRPr>
          </a:p>
          <a:p>
            <a:pPr algn="l"/>
            <a:r>
              <a:rPr lang="en-US" sz="7200" b="1" dirty="0">
                <a:solidFill>
                  <a:schemeClr val="accent3"/>
                </a:solidFill>
              </a:rPr>
              <a:t>Backend (Spring Boot Microservices): </a:t>
            </a:r>
            <a:endParaRPr lang="en-US" sz="7200" dirty="0">
              <a:solidFill>
                <a:schemeClr val="accent3"/>
              </a:solidFill>
            </a:endParaRPr>
          </a:p>
          <a:p>
            <a:pPr algn="l"/>
            <a:r>
              <a:rPr lang="en-US" sz="7200" dirty="0"/>
              <a:t>              REST APIs to manage data.</a:t>
            </a:r>
          </a:p>
          <a:p>
            <a:pPr algn="l"/>
            <a:r>
              <a:rPr lang="en-US" sz="7200" b="1" dirty="0">
                <a:solidFill>
                  <a:schemeClr val="accent3"/>
                </a:solidFill>
              </a:rPr>
              <a:t>Frontend (React + MUI):</a:t>
            </a:r>
            <a:endParaRPr lang="en-US" sz="7200" b="1">
              <a:solidFill>
                <a:schemeClr val="accent3"/>
              </a:solidFill>
              <a:latin typeface="Aptos"/>
              <a:cs typeface="Times New Roman"/>
            </a:endParaRPr>
          </a:p>
          <a:p>
            <a:pPr algn="just"/>
            <a:r>
              <a:rPr lang="en-US" sz="7200" dirty="0"/>
              <a:t>  1. Responsive user interface for booking, transfer, notifications, docs upload, and Track Status.</a:t>
            </a:r>
          </a:p>
          <a:p>
            <a:pPr algn="just"/>
            <a:r>
              <a:rPr lang="en-US" sz="7200" dirty="0"/>
              <a:t> 2. Patient, Doctor ,Nurse , Billing Desk , Front Desk and   Lab Technician dashboards for management    tasks.</a:t>
            </a:r>
            <a:endParaRPr lang="en-US"/>
          </a:p>
          <a:p>
            <a:pPr algn="l"/>
            <a:r>
              <a:rPr lang="en-US" sz="7200" dirty="0"/>
              <a:t>    </a:t>
            </a:r>
            <a:endParaRPr lang="en-US"/>
          </a:p>
          <a:p>
            <a:pPr algn="l"/>
            <a:br>
              <a:rPr lang="en-US" dirty="0"/>
            </a:br>
            <a:endParaRPr lang="en-US"/>
          </a:p>
          <a:p>
            <a:pPr marL="285750" indent="-285750" algn="l">
              <a:buChar char="•"/>
            </a:pPr>
            <a:endParaRPr lang="en-US" sz="2500">
              <a:cs typeface="Times New Roman"/>
            </a:endParaRPr>
          </a:p>
          <a:p>
            <a:endParaRPr lang="en-US" sz="2500">
              <a:cs typeface="Times New Roman"/>
            </a:endParaRPr>
          </a:p>
        </p:txBody>
      </p:sp>
      <p:pic>
        <p:nvPicPr>
          <p:cNvPr id="4" name="Picture 3" descr="Logo&#10;&#10;Description automatically generated">
            <a:extLst>
              <a:ext uri="{FF2B5EF4-FFF2-40B4-BE49-F238E27FC236}">
                <a16:creationId xmlns:a16="http://schemas.microsoft.com/office/drawing/2014/main" id="{12F83ABA-FA62-EF1B-9B03-497B023A754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D47F22D2-6CA9-74C9-2C40-0F498D54C0F8}"/>
              </a:ext>
            </a:extLst>
          </p:cNvPr>
          <p:cNvGrpSpPr/>
          <p:nvPr/>
        </p:nvGrpSpPr>
        <p:grpSpPr>
          <a:xfrm>
            <a:off x="225730" y="6183961"/>
            <a:ext cx="11731301" cy="500405"/>
            <a:chOff x="632130" y="7122454"/>
            <a:chExt cx="11691611" cy="643945"/>
          </a:xfrm>
        </p:grpSpPr>
        <p:grpSp>
          <p:nvGrpSpPr>
            <p:cNvPr id="6" name="Group 5">
              <a:extLst>
                <a:ext uri="{FF2B5EF4-FFF2-40B4-BE49-F238E27FC236}">
                  <a16:creationId xmlns:a16="http://schemas.microsoft.com/office/drawing/2014/main" id="{B52DCA4E-A905-905A-476A-739C99346ECE}"/>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4860E245-B969-53EC-A0C2-5EB813C16A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39EE0DC9-36AF-6C3B-6618-9895445C80C5}"/>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D139F375-334D-5D55-8FE8-8B338309D41B}"/>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F23764AB-E01B-CCCF-D895-79280E64B5A4}"/>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44066A44-B985-2BC8-3447-FACDFB054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293B368B-F0E4-0F43-989C-CB3EEE26D1F8}"/>
                </a:ext>
              </a:extLst>
            </p:cNvPr>
            <p:cNvSpPr txBox="1"/>
            <p:nvPr/>
          </p:nvSpPr>
          <p:spPr>
            <a:xfrm>
              <a:off x="9389075" y="7122454"/>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2426597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77C2-B6C4-59AD-37FD-183242C00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417B2-463E-0A03-15F9-B1D6E51EA910}"/>
              </a:ext>
            </a:extLst>
          </p:cNvPr>
          <p:cNvSpPr>
            <a:spLocks noGrp="1"/>
          </p:cNvSpPr>
          <p:nvPr>
            <p:ph type="ctrTitle"/>
          </p:nvPr>
        </p:nvSpPr>
        <p:spPr>
          <a:xfrm>
            <a:off x="-157480" y="4763"/>
            <a:ext cx="2389072" cy="1553811"/>
          </a:xfrm>
        </p:spPr>
        <p:txBody>
          <a:bodyPr vert="horz" lIns="91440" tIns="45720" rIns="91440" bIns="45720" rtlCol="0" anchor="ctr">
            <a:noAutofit/>
          </a:bodyPr>
          <a:lstStyle/>
          <a:p>
            <a:r>
              <a:rPr lang="en-US" sz="3600" b="1" dirty="0"/>
              <a:t>Use Case</a:t>
            </a:r>
            <a:br>
              <a:rPr lang="en-US" sz="3600" dirty="0"/>
            </a:br>
            <a:r>
              <a:rPr lang="en-US" sz="3600" dirty="0"/>
              <a:t> </a:t>
            </a:r>
            <a:r>
              <a:rPr lang="en-US" sz="3600" b="1" dirty="0"/>
              <a:t>Diagram</a:t>
            </a:r>
          </a:p>
        </p:txBody>
      </p:sp>
      <p:pic>
        <p:nvPicPr>
          <p:cNvPr id="4" name="Picture 3" descr="Logo&#10;&#10;Description automatically generated">
            <a:extLst>
              <a:ext uri="{FF2B5EF4-FFF2-40B4-BE49-F238E27FC236}">
                <a16:creationId xmlns:a16="http://schemas.microsoft.com/office/drawing/2014/main" id="{3DE3D21D-E925-F5FE-1F5C-C37066C1FF48}"/>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D9FD8D65-DD5D-E4AA-F5B0-26DF6ADF4BAA}"/>
              </a:ext>
            </a:extLst>
          </p:cNvPr>
          <p:cNvGrpSpPr/>
          <p:nvPr/>
        </p:nvGrpSpPr>
        <p:grpSpPr>
          <a:xfrm>
            <a:off x="225730" y="6183961"/>
            <a:ext cx="11731301" cy="500405"/>
            <a:chOff x="632130" y="7122454"/>
            <a:chExt cx="11691611" cy="643945"/>
          </a:xfrm>
        </p:grpSpPr>
        <p:grpSp>
          <p:nvGrpSpPr>
            <p:cNvPr id="6" name="Group 5">
              <a:extLst>
                <a:ext uri="{FF2B5EF4-FFF2-40B4-BE49-F238E27FC236}">
                  <a16:creationId xmlns:a16="http://schemas.microsoft.com/office/drawing/2014/main" id="{172D620E-0B6B-5DB7-9882-0B4CF5E1262F}"/>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CD0011FD-FF91-17E6-69F6-2528A58EC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8009E658-A6CE-E6D0-E591-4D917CF63F06}"/>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1DC44DE0-A39B-0187-1093-A96ED7CD7D4E}"/>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5F6993B3-45BC-5A8F-A368-E06D4FC16B7B}"/>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064E818B-D2FD-EF52-85C2-DC03CD641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F05D1878-54C8-5257-2F2C-E4FA4DD67085}"/>
                </a:ext>
              </a:extLst>
            </p:cNvPr>
            <p:cNvSpPr txBox="1"/>
            <p:nvPr/>
          </p:nvSpPr>
          <p:spPr>
            <a:xfrm>
              <a:off x="9389075" y="7122454"/>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pic>
        <p:nvPicPr>
          <p:cNvPr id="3" name="Picture 2" descr="A diagram of a diagram&#10;&#10;AI-generated content may be incorrect.">
            <a:extLst>
              <a:ext uri="{FF2B5EF4-FFF2-40B4-BE49-F238E27FC236}">
                <a16:creationId xmlns:a16="http://schemas.microsoft.com/office/drawing/2014/main" id="{7C7B8E89-1231-90B6-2932-E60D4733D53F}"/>
              </a:ext>
            </a:extLst>
          </p:cNvPr>
          <p:cNvPicPr>
            <a:picLocks noChangeAspect="1"/>
          </p:cNvPicPr>
          <p:nvPr/>
        </p:nvPicPr>
        <p:blipFill>
          <a:blip r:embed="rId4"/>
          <a:stretch>
            <a:fillRect/>
          </a:stretch>
        </p:blipFill>
        <p:spPr>
          <a:xfrm>
            <a:off x="2088381" y="-30080"/>
            <a:ext cx="9990422" cy="6216316"/>
          </a:xfrm>
          <a:prstGeom prst="rect">
            <a:avLst/>
          </a:prstGeom>
        </p:spPr>
      </p:pic>
    </p:spTree>
    <p:extLst>
      <p:ext uri="{BB962C8B-B14F-4D97-AF65-F5344CB8AC3E}">
        <p14:creationId xmlns:p14="http://schemas.microsoft.com/office/powerpoint/2010/main" val="3220541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EE110-43D2-D8A4-5EB2-51708B0D0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83F56-0EF5-7FC0-71BC-9C9A87DFC4B5}"/>
              </a:ext>
            </a:extLst>
          </p:cNvPr>
          <p:cNvSpPr>
            <a:spLocks noGrp="1"/>
          </p:cNvSpPr>
          <p:nvPr>
            <p:ph type="ctrTitle"/>
          </p:nvPr>
        </p:nvSpPr>
        <p:spPr>
          <a:xfrm>
            <a:off x="222250" y="530"/>
            <a:ext cx="3676873" cy="648591"/>
          </a:xfrm>
        </p:spPr>
        <p:txBody>
          <a:bodyPr vert="horz" lIns="91440" tIns="45720" rIns="91440" bIns="45720" rtlCol="0" anchor="ctr">
            <a:noAutofit/>
          </a:bodyPr>
          <a:lstStyle/>
          <a:p>
            <a:r>
              <a:rPr lang="en-US" sz="3600" b="1" dirty="0"/>
              <a:t>DB Diagram</a:t>
            </a:r>
          </a:p>
        </p:txBody>
      </p:sp>
      <p:pic>
        <p:nvPicPr>
          <p:cNvPr id="4" name="Picture 3" descr="Logo&#10;&#10;Description automatically generated">
            <a:extLst>
              <a:ext uri="{FF2B5EF4-FFF2-40B4-BE49-F238E27FC236}">
                <a16:creationId xmlns:a16="http://schemas.microsoft.com/office/drawing/2014/main" id="{F3F90C0D-9D0C-B6AF-3C7F-0053893A4CD2}"/>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C66C90DF-5544-797F-F142-D5001D1BD9AC}"/>
              </a:ext>
            </a:extLst>
          </p:cNvPr>
          <p:cNvGrpSpPr/>
          <p:nvPr/>
        </p:nvGrpSpPr>
        <p:grpSpPr>
          <a:xfrm>
            <a:off x="225730" y="6175723"/>
            <a:ext cx="11731301" cy="508643"/>
            <a:chOff x="632130" y="7111853"/>
            <a:chExt cx="11691611" cy="654546"/>
          </a:xfrm>
        </p:grpSpPr>
        <p:grpSp>
          <p:nvGrpSpPr>
            <p:cNvPr id="6" name="Group 5">
              <a:extLst>
                <a:ext uri="{FF2B5EF4-FFF2-40B4-BE49-F238E27FC236}">
                  <a16:creationId xmlns:a16="http://schemas.microsoft.com/office/drawing/2014/main" id="{B53D648C-A275-C332-C8D3-426D8EBDAE28}"/>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657E81E1-8E26-F3AC-D15B-90DC892CC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5FEDA84D-75C2-3D03-5A02-81F813299230}"/>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4AB6518E-3F9C-EF29-D55F-1D99BD5A2AFD}"/>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39F68A73-241A-3136-FF34-C8B2C2539295}"/>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852AFA52-AAFC-153C-3C9B-81000C62E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CA9126AD-992F-1C90-28D1-E2D6D98FEE5D}"/>
                </a:ext>
              </a:extLst>
            </p:cNvPr>
            <p:cNvSpPr txBox="1"/>
            <p:nvPr/>
          </p:nvSpPr>
          <p:spPr>
            <a:xfrm>
              <a:off x="9389075" y="7111853"/>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pic>
        <p:nvPicPr>
          <p:cNvPr id="3" name="Picture 2" descr="A screenshot of a computer&#10;&#10;AI-generated content may be incorrect.">
            <a:extLst>
              <a:ext uri="{FF2B5EF4-FFF2-40B4-BE49-F238E27FC236}">
                <a16:creationId xmlns:a16="http://schemas.microsoft.com/office/drawing/2014/main" id="{479DAD18-2B62-D525-C5D6-DBF54C3AA5EE}"/>
              </a:ext>
            </a:extLst>
          </p:cNvPr>
          <p:cNvPicPr>
            <a:picLocks noChangeAspect="1"/>
          </p:cNvPicPr>
          <p:nvPr/>
        </p:nvPicPr>
        <p:blipFill>
          <a:blip r:embed="rId4"/>
          <a:stretch>
            <a:fillRect/>
          </a:stretch>
        </p:blipFill>
        <p:spPr>
          <a:xfrm>
            <a:off x="227943" y="646506"/>
            <a:ext cx="11337599" cy="5531354"/>
          </a:xfrm>
          <a:prstGeom prst="rect">
            <a:avLst/>
          </a:prstGeom>
        </p:spPr>
      </p:pic>
    </p:spTree>
    <p:extLst>
      <p:ext uri="{BB962C8B-B14F-4D97-AF65-F5344CB8AC3E}">
        <p14:creationId xmlns:p14="http://schemas.microsoft.com/office/powerpoint/2010/main" val="1480287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F154-8629-63B8-CF3D-A44678F9636B}"/>
              </a:ext>
            </a:extLst>
          </p:cNvPr>
          <p:cNvSpPr>
            <a:spLocks noGrp="1"/>
          </p:cNvSpPr>
          <p:nvPr>
            <p:ph type="title"/>
          </p:nvPr>
        </p:nvSpPr>
        <p:spPr/>
        <p:txBody>
          <a:bodyPr/>
          <a:lstStyle/>
          <a:p>
            <a:r>
              <a:rPr lang="en-US"/>
              <a:t>Documents</a:t>
            </a:r>
          </a:p>
        </p:txBody>
      </p:sp>
      <p:sp>
        <p:nvSpPr>
          <p:cNvPr id="3" name="Content Placeholder 2">
            <a:extLst>
              <a:ext uri="{FF2B5EF4-FFF2-40B4-BE49-F238E27FC236}">
                <a16:creationId xmlns:a16="http://schemas.microsoft.com/office/drawing/2014/main" id="{9629DF7A-F6A5-3002-3C5D-51DA2752E183}"/>
              </a:ext>
            </a:extLst>
          </p:cNvPr>
          <p:cNvSpPr>
            <a:spLocks noGrp="1"/>
          </p:cNvSpPr>
          <p:nvPr>
            <p:ph idx="1"/>
          </p:nvPr>
        </p:nvSpPr>
        <p:spPr/>
        <p:txBody>
          <a:bodyPr vert="horz" lIns="91440" tIns="45720" rIns="91440" bIns="45720" rtlCol="0" anchor="t">
            <a:normAutofit/>
          </a:bodyPr>
          <a:lstStyle/>
          <a:p>
            <a:r>
              <a:rPr lang="en-US" dirty="0">
                <a:hlinkClick r:id="rId2"/>
              </a:rPr>
              <a:t>SRS</a:t>
            </a:r>
          </a:p>
          <a:p>
            <a:r>
              <a:rPr lang="en-US" dirty="0">
                <a:hlinkClick r:id="rId3"/>
              </a:rPr>
              <a:t>HLD</a:t>
            </a:r>
          </a:p>
          <a:p>
            <a:r>
              <a:rPr lang="en-US" dirty="0">
                <a:hlinkClick r:id="rId4"/>
              </a:rPr>
              <a:t>LLD</a:t>
            </a:r>
          </a:p>
          <a:p>
            <a:r>
              <a:rPr lang="en-US" dirty="0">
                <a:hlinkClick r:id="rId5"/>
              </a:rPr>
              <a:t>QSC</a:t>
            </a:r>
          </a:p>
          <a:p>
            <a:r>
              <a:rPr lang="en-US" dirty="0">
                <a:hlinkClick r:id="rId6"/>
              </a:rPr>
              <a:t>Test Reports</a:t>
            </a:r>
          </a:p>
          <a:p>
            <a:r>
              <a:rPr lang="en-US" dirty="0">
                <a:hlinkClick r:id="rId7"/>
              </a:rPr>
              <a:t>Github</a:t>
            </a:r>
          </a:p>
          <a:p>
            <a:pPr marL="0" indent="0">
              <a:buNone/>
            </a:pPr>
            <a:endParaRPr lang="en-US" dirty="0"/>
          </a:p>
        </p:txBody>
      </p:sp>
      <p:pic>
        <p:nvPicPr>
          <p:cNvPr id="5" name="Picture 4" descr="Logo&#10;&#10;Description automatically generated">
            <a:extLst>
              <a:ext uri="{FF2B5EF4-FFF2-40B4-BE49-F238E27FC236}">
                <a16:creationId xmlns:a16="http://schemas.microsoft.com/office/drawing/2014/main" id="{5DF03A35-584D-FA15-7BF1-A52B2B3130F1}"/>
              </a:ext>
            </a:extLst>
          </p:cNvPr>
          <p:cNvPicPr>
            <a:picLocks noChangeAspect="1"/>
          </p:cNvPicPr>
          <p:nvPr/>
        </p:nvPicPr>
        <p:blipFill>
          <a:blip r:embed="rId8"/>
          <a:stretch>
            <a:fillRect/>
          </a:stretch>
        </p:blipFill>
        <p:spPr>
          <a:xfrm>
            <a:off x="9731772" y="199050"/>
            <a:ext cx="2228850" cy="485775"/>
          </a:xfrm>
          <a:prstGeom prst="rect">
            <a:avLst/>
          </a:prstGeom>
        </p:spPr>
      </p:pic>
      <p:grpSp>
        <p:nvGrpSpPr>
          <p:cNvPr id="14" name="Group 13">
            <a:extLst>
              <a:ext uri="{FF2B5EF4-FFF2-40B4-BE49-F238E27FC236}">
                <a16:creationId xmlns:a16="http://schemas.microsoft.com/office/drawing/2014/main" id="{36A07273-82EC-5B3B-8BFC-68BA4D8BED48}"/>
              </a:ext>
            </a:extLst>
          </p:cNvPr>
          <p:cNvGrpSpPr/>
          <p:nvPr/>
        </p:nvGrpSpPr>
        <p:grpSpPr>
          <a:xfrm>
            <a:off x="225730" y="6192199"/>
            <a:ext cx="11731301" cy="492167"/>
            <a:chOff x="632130" y="7133055"/>
            <a:chExt cx="11691611" cy="633344"/>
          </a:xfrm>
        </p:grpSpPr>
        <p:grpSp>
          <p:nvGrpSpPr>
            <p:cNvPr id="7" name="Group 6">
              <a:extLst>
                <a:ext uri="{FF2B5EF4-FFF2-40B4-BE49-F238E27FC236}">
                  <a16:creationId xmlns:a16="http://schemas.microsoft.com/office/drawing/2014/main" id="{855EED82-0A70-B021-8C14-A5744C830EEE}"/>
                </a:ext>
              </a:extLst>
            </p:cNvPr>
            <p:cNvGrpSpPr/>
            <p:nvPr/>
          </p:nvGrpSpPr>
          <p:grpSpPr>
            <a:xfrm>
              <a:off x="632130" y="7196670"/>
              <a:ext cx="11691611" cy="554421"/>
              <a:chOff x="632130" y="7196670"/>
              <a:chExt cx="11553746" cy="411521"/>
            </a:xfrm>
          </p:grpSpPr>
          <p:pic>
            <p:nvPicPr>
              <p:cNvPr id="10" name="Picture 9">
                <a:extLst>
                  <a:ext uri="{FF2B5EF4-FFF2-40B4-BE49-F238E27FC236}">
                    <a16:creationId xmlns:a16="http://schemas.microsoft.com/office/drawing/2014/main" id="{56520A0C-B5C8-F08B-8619-DBCC0209C9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a:extLst>
                  <a:ext uri="{FF2B5EF4-FFF2-40B4-BE49-F238E27FC236}">
                    <a16:creationId xmlns:a16="http://schemas.microsoft.com/office/drawing/2014/main" id="{6A9B3804-40AC-A98C-B166-698AD0685AED}"/>
                  </a:ext>
                </a:extLst>
              </p:cNvPr>
              <p:cNvGrpSpPr/>
              <p:nvPr/>
            </p:nvGrpSpPr>
            <p:grpSpPr>
              <a:xfrm>
                <a:off x="632130" y="7196670"/>
                <a:ext cx="11553746" cy="411521"/>
                <a:chOff x="632130" y="7196670"/>
                <a:chExt cx="8686800" cy="381006"/>
              </a:xfrm>
            </p:grpSpPr>
            <p:sp>
              <p:nvSpPr>
                <p:cNvPr id="12" name="Rectangle 11">
                  <a:extLst>
                    <a:ext uri="{FF2B5EF4-FFF2-40B4-BE49-F238E27FC236}">
                      <a16:creationId xmlns:a16="http://schemas.microsoft.com/office/drawing/2014/main" id="{5E08F691-593C-9C6C-DDDF-688CD28D5FD9}"/>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3" name="Rectangle 12">
                  <a:extLst>
                    <a:ext uri="{FF2B5EF4-FFF2-40B4-BE49-F238E27FC236}">
                      <a16:creationId xmlns:a16="http://schemas.microsoft.com/office/drawing/2014/main" id="{FA7644C4-1A4F-352C-38EE-C0BBBA247AEA}"/>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8" name="Picture 7">
              <a:extLst>
                <a:ext uri="{FF2B5EF4-FFF2-40B4-BE49-F238E27FC236}">
                  <a16:creationId xmlns:a16="http://schemas.microsoft.com/office/drawing/2014/main" id="{3F370216-B950-45E4-86D3-6552D308452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8">
              <a:extLst>
                <a:ext uri="{FF2B5EF4-FFF2-40B4-BE49-F238E27FC236}">
                  <a16:creationId xmlns:a16="http://schemas.microsoft.com/office/drawing/2014/main" id="{766C61B9-6DC8-3B30-D9D7-ECA6B66C57BE}"/>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547896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9788-8C52-F237-888F-567908F50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9C81D-8047-5B9A-6665-E227B653466E}"/>
              </a:ext>
            </a:extLst>
          </p:cNvPr>
          <p:cNvSpPr>
            <a:spLocks noGrp="1"/>
          </p:cNvSpPr>
          <p:nvPr>
            <p:ph type="title"/>
          </p:nvPr>
        </p:nvSpPr>
        <p:spPr>
          <a:xfrm>
            <a:off x="217180" y="201399"/>
            <a:ext cx="11049046" cy="785018"/>
          </a:xfrm>
        </p:spPr>
        <p:txBody>
          <a:bodyPr/>
          <a:lstStyle/>
          <a:p>
            <a:r>
              <a:rPr lang="en-US" dirty="0">
                <a:ea typeface="+mj-lt"/>
                <a:cs typeface="+mj-lt"/>
              </a:rPr>
              <a:t>Technology stack</a:t>
            </a:r>
            <a:endParaRPr lang="en-US" dirty="0"/>
          </a:p>
        </p:txBody>
      </p:sp>
      <p:sp>
        <p:nvSpPr>
          <p:cNvPr id="3" name="Content Placeholder 2">
            <a:extLst>
              <a:ext uri="{FF2B5EF4-FFF2-40B4-BE49-F238E27FC236}">
                <a16:creationId xmlns:a16="http://schemas.microsoft.com/office/drawing/2014/main" id="{2A6D3984-263F-F3F9-9B56-02039CA59D76}"/>
              </a:ext>
            </a:extLst>
          </p:cNvPr>
          <p:cNvSpPr>
            <a:spLocks noGrp="1"/>
          </p:cNvSpPr>
          <p:nvPr>
            <p:ph idx="1"/>
          </p:nvPr>
        </p:nvSpPr>
        <p:spPr>
          <a:xfrm>
            <a:off x="217180" y="828140"/>
            <a:ext cx="11753173" cy="5095398"/>
          </a:xfrm>
        </p:spPr>
        <p:txBody>
          <a:bodyPr vert="horz" lIns="91440" tIns="45720" rIns="91440" bIns="45720" rtlCol="0" anchor="t">
            <a:noAutofit/>
          </a:bodyPr>
          <a:lstStyle/>
          <a:p>
            <a:pPr marL="0" indent="0" algn="just">
              <a:lnSpc>
                <a:spcPct val="100000"/>
              </a:lnSpc>
              <a:spcBef>
                <a:spcPts val="0"/>
              </a:spcBef>
              <a:buNone/>
            </a:pPr>
            <a:r>
              <a:rPr lang="en-US" b="1" dirty="0">
                <a:solidFill>
                  <a:schemeClr val="accent3"/>
                </a:solidFill>
                <a:latin typeface="Aptos"/>
              </a:rPr>
              <a:t>Frontend</a:t>
            </a:r>
            <a:endParaRPr lang="en-US" dirty="0">
              <a:solidFill>
                <a:schemeClr val="accent3"/>
              </a:solidFill>
              <a:latin typeface="Aptos"/>
            </a:endParaRPr>
          </a:p>
          <a:p>
            <a:pPr algn="just">
              <a:lnSpc>
                <a:spcPct val="100000"/>
              </a:lnSpc>
              <a:spcBef>
                <a:spcPts val="0"/>
              </a:spcBef>
            </a:pPr>
            <a:r>
              <a:rPr lang="en-US" b="1" dirty="0">
                <a:latin typeface="Aptos"/>
              </a:rPr>
              <a:t>React:</a:t>
            </a:r>
            <a:r>
              <a:rPr lang="en-US" dirty="0">
                <a:latin typeface="Aptos"/>
              </a:rPr>
              <a:t> A JavaScript library for building the user interface.</a:t>
            </a:r>
          </a:p>
          <a:p>
            <a:pPr algn="just">
              <a:lnSpc>
                <a:spcPct val="100000"/>
              </a:lnSpc>
              <a:spcBef>
                <a:spcPts val="0"/>
              </a:spcBef>
            </a:pPr>
            <a:r>
              <a:rPr lang="en-US" b="1" dirty="0">
                <a:latin typeface="Aptos"/>
              </a:rPr>
              <a:t>Material-UI (MUI):</a:t>
            </a:r>
            <a:r>
              <a:rPr lang="en-US" dirty="0">
                <a:latin typeface="Aptos"/>
              </a:rPr>
              <a:t> A popular React UI framework that provides pre-built, responsive components for the  dashboards and other UI elements.</a:t>
            </a:r>
          </a:p>
          <a:p>
            <a:pPr>
              <a:lnSpc>
                <a:spcPct val="100000"/>
              </a:lnSpc>
              <a:spcBef>
                <a:spcPts val="0"/>
              </a:spcBef>
            </a:pPr>
            <a:endParaRPr lang="en-US" dirty="0">
              <a:latin typeface="Aptos"/>
            </a:endParaRPr>
          </a:p>
          <a:p>
            <a:pPr marL="0" indent="0">
              <a:lnSpc>
                <a:spcPct val="100000"/>
              </a:lnSpc>
              <a:spcBef>
                <a:spcPts val="0"/>
              </a:spcBef>
              <a:buNone/>
            </a:pPr>
            <a:r>
              <a:rPr lang="en-US" b="1" dirty="0">
                <a:solidFill>
                  <a:schemeClr val="accent3"/>
                </a:solidFill>
                <a:latin typeface="Aptos"/>
              </a:rPr>
              <a:t>Backend</a:t>
            </a:r>
            <a:endParaRPr lang="en-US" dirty="0">
              <a:solidFill>
                <a:schemeClr val="accent3"/>
              </a:solidFill>
              <a:latin typeface="Aptos"/>
            </a:endParaRPr>
          </a:p>
          <a:p>
            <a:pPr algn="just">
              <a:lnSpc>
                <a:spcPct val="100000"/>
              </a:lnSpc>
              <a:spcBef>
                <a:spcPts val="0"/>
              </a:spcBef>
            </a:pPr>
            <a:r>
              <a:rPr lang="en-US" b="1" dirty="0">
                <a:latin typeface="Aptos"/>
              </a:rPr>
              <a:t>Spring Boot:</a:t>
            </a:r>
            <a:r>
              <a:rPr lang="en-US" dirty="0">
                <a:latin typeface="Aptos"/>
              </a:rPr>
              <a:t> A Java-based framework used to create stand-alone, production-grade applications.</a:t>
            </a:r>
          </a:p>
          <a:p>
            <a:pPr algn="just">
              <a:lnSpc>
                <a:spcPct val="100000"/>
              </a:lnSpc>
              <a:spcBef>
                <a:spcPts val="0"/>
              </a:spcBef>
            </a:pPr>
            <a:r>
              <a:rPr lang="en-US" b="1" dirty="0">
                <a:latin typeface="Aptos"/>
              </a:rPr>
              <a:t>Microservices:</a:t>
            </a:r>
            <a:r>
              <a:rPr lang="en-US" dirty="0">
                <a:latin typeface="Aptos"/>
              </a:rPr>
              <a:t> An architectural style where a single application is composed of small, independent services, each running in its own process. This allows for scalability and easier management of different application  functions (e.g., a service for users, one for appointments, etc.).</a:t>
            </a:r>
          </a:p>
          <a:p>
            <a:pPr algn="just">
              <a:lnSpc>
                <a:spcPct val="100000"/>
              </a:lnSpc>
              <a:spcBef>
                <a:spcPts val="0"/>
              </a:spcBef>
            </a:pPr>
            <a:r>
              <a:rPr lang="en-US" b="1" dirty="0">
                <a:latin typeface="Aptos"/>
              </a:rPr>
              <a:t>REST APIs:</a:t>
            </a:r>
            <a:r>
              <a:rPr lang="en-US" dirty="0">
                <a:latin typeface="Aptos"/>
              </a:rPr>
              <a:t> The communication protocol used by the microservices to interact with both the frontend and each other.</a:t>
            </a:r>
          </a:p>
          <a:p>
            <a:pPr algn="just">
              <a:lnSpc>
                <a:spcPct val="100000"/>
              </a:lnSpc>
              <a:spcBef>
                <a:spcPts val="0"/>
              </a:spcBef>
            </a:pPr>
            <a:endParaRPr lang="en-US" dirty="0">
              <a:solidFill>
                <a:srgbClr val="000000"/>
              </a:solidFill>
              <a:latin typeface="Aptos"/>
            </a:endParaRPr>
          </a:p>
          <a:p>
            <a:pPr marL="0" indent="0">
              <a:lnSpc>
                <a:spcPct val="100000"/>
              </a:lnSpc>
              <a:spcBef>
                <a:spcPts val="0"/>
              </a:spcBef>
              <a:buNone/>
            </a:pPr>
            <a:r>
              <a:rPr lang="en-US" b="1" dirty="0">
                <a:solidFill>
                  <a:schemeClr val="accent3"/>
                </a:solidFill>
                <a:latin typeface="Aptos"/>
              </a:rPr>
              <a:t>Database</a:t>
            </a:r>
            <a:endParaRPr lang="en-US" dirty="0">
              <a:solidFill>
                <a:schemeClr val="accent3"/>
              </a:solidFill>
              <a:latin typeface="Aptos"/>
            </a:endParaRPr>
          </a:p>
          <a:p>
            <a:pPr>
              <a:lnSpc>
                <a:spcPct val="100000"/>
              </a:lnSpc>
              <a:spcBef>
                <a:spcPts val="0"/>
              </a:spcBef>
            </a:pPr>
            <a:r>
              <a:rPr lang="en-US" b="1" dirty="0">
                <a:latin typeface="Aptos"/>
              </a:rPr>
              <a:t>MongoDB:</a:t>
            </a:r>
            <a:r>
              <a:rPr lang="en-US" dirty="0">
                <a:latin typeface="Aptos"/>
              </a:rPr>
              <a:t> A NoSQL, document-based database used to store all your application data, including users, medical records, and claims.</a:t>
            </a:r>
            <a:endParaRPr lang="en-US"/>
          </a:p>
          <a:p>
            <a:pPr marL="0" indent="0">
              <a:buNone/>
            </a:pPr>
            <a:endParaRPr lang="en-US" dirty="0"/>
          </a:p>
        </p:txBody>
      </p:sp>
      <p:pic>
        <p:nvPicPr>
          <p:cNvPr id="5" name="Picture 4" descr="Logo&#10;&#10;Description automatically generated">
            <a:extLst>
              <a:ext uri="{FF2B5EF4-FFF2-40B4-BE49-F238E27FC236}">
                <a16:creationId xmlns:a16="http://schemas.microsoft.com/office/drawing/2014/main" id="{FED966B1-AAD3-259D-4B9D-DB27C617B064}"/>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14" name="Group 13">
            <a:extLst>
              <a:ext uri="{FF2B5EF4-FFF2-40B4-BE49-F238E27FC236}">
                <a16:creationId xmlns:a16="http://schemas.microsoft.com/office/drawing/2014/main" id="{253CDDDB-5C80-2D97-882B-5D4ABF5F00E8}"/>
              </a:ext>
            </a:extLst>
          </p:cNvPr>
          <p:cNvGrpSpPr/>
          <p:nvPr/>
        </p:nvGrpSpPr>
        <p:grpSpPr>
          <a:xfrm>
            <a:off x="225730" y="6192199"/>
            <a:ext cx="11731301" cy="492167"/>
            <a:chOff x="632130" y="7133055"/>
            <a:chExt cx="11691611" cy="633344"/>
          </a:xfrm>
        </p:grpSpPr>
        <p:grpSp>
          <p:nvGrpSpPr>
            <p:cNvPr id="7" name="Group 6">
              <a:extLst>
                <a:ext uri="{FF2B5EF4-FFF2-40B4-BE49-F238E27FC236}">
                  <a16:creationId xmlns:a16="http://schemas.microsoft.com/office/drawing/2014/main" id="{F67C8FE7-4EE9-3807-5ED9-65F679F4E796}"/>
                </a:ext>
              </a:extLst>
            </p:cNvPr>
            <p:cNvGrpSpPr/>
            <p:nvPr/>
          </p:nvGrpSpPr>
          <p:grpSpPr>
            <a:xfrm>
              <a:off x="632130" y="7196670"/>
              <a:ext cx="11691611" cy="554421"/>
              <a:chOff x="632130" y="7196670"/>
              <a:chExt cx="11553746" cy="411521"/>
            </a:xfrm>
          </p:grpSpPr>
          <p:pic>
            <p:nvPicPr>
              <p:cNvPr id="10" name="Picture 9">
                <a:extLst>
                  <a:ext uri="{FF2B5EF4-FFF2-40B4-BE49-F238E27FC236}">
                    <a16:creationId xmlns:a16="http://schemas.microsoft.com/office/drawing/2014/main" id="{AA7D25D2-0F1F-39D6-00F8-12A5245B2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a:extLst>
                  <a:ext uri="{FF2B5EF4-FFF2-40B4-BE49-F238E27FC236}">
                    <a16:creationId xmlns:a16="http://schemas.microsoft.com/office/drawing/2014/main" id="{0FAB1924-409F-87A7-A518-D5A780B30D04}"/>
                  </a:ext>
                </a:extLst>
              </p:cNvPr>
              <p:cNvGrpSpPr/>
              <p:nvPr/>
            </p:nvGrpSpPr>
            <p:grpSpPr>
              <a:xfrm>
                <a:off x="632130" y="7196670"/>
                <a:ext cx="11553746" cy="411521"/>
                <a:chOff x="632130" y="7196670"/>
                <a:chExt cx="8686800" cy="381006"/>
              </a:xfrm>
            </p:grpSpPr>
            <p:sp>
              <p:nvSpPr>
                <p:cNvPr id="12" name="Rectangle 11">
                  <a:extLst>
                    <a:ext uri="{FF2B5EF4-FFF2-40B4-BE49-F238E27FC236}">
                      <a16:creationId xmlns:a16="http://schemas.microsoft.com/office/drawing/2014/main" id="{430594CF-51F8-3BB8-B36D-415528E0276E}"/>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3" name="Rectangle 12">
                  <a:extLst>
                    <a:ext uri="{FF2B5EF4-FFF2-40B4-BE49-F238E27FC236}">
                      <a16:creationId xmlns:a16="http://schemas.microsoft.com/office/drawing/2014/main" id="{B9B4F526-0409-3145-4759-AAACC171A7B3}"/>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8" name="Picture 7">
              <a:extLst>
                <a:ext uri="{FF2B5EF4-FFF2-40B4-BE49-F238E27FC236}">
                  <a16:creationId xmlns:a16="http://schemas.microsoft.com/office/drawing/2014/main" id="{746720AF-83F9-77DF-4DD0-E42191412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8">
              <a:extLst>
                <a:ext uri="{FF2B5EF4-FFF2-40B4-BE49-F238E27FC236}">
                  <a16:creationId xmlns:a16="http://schemas.microsoft.com/office/drawing/2014/main" id="{FE1F4E54-E352-B571-23C4-D957F6E692D6}"/>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1116535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85C61-58DE-331F-7D5D-CCD64DD8C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2D5A8-41B7-256E-6097-13E3A6C716D5}"/>
              </a:ext>
            </a:extLst>
          </p:cNvPr>
          <p:cNvSpPr>
            <a:spLocks noGrp="1"/>
          </p:cNvSpPr>
          <p:nvPr>
            <p:ph type="title"/>
          </p:nvPr>
        </p:nvSpPr>
        <p:spPr/>
        <p:txBody>
          <a:bodyPr/>
          <a:lstStyle/>
          <a:p>
            <a:r>
              <a:rPr lang="en-US" dirty="0"/>
              <a:t>Flow Chart</a:t>
            </a:r>
            <a:br>
              <a:rPr lang="en-US" dirty="0"/>
            </a:br>
            <a:endParaRPr lang="en-US" dirty="0"/>
          </a:p>
        </p:txBody>
      </p:sp>
      <p:sp>
        <p:nvSpPr>
          <p:cNvPr id="3" name="Content Placeholder 2">
            <a:extLst>
              <a:ext uri="{FF2B5EF4-FFF2-40B4-BE49-F238E27FC236}">
                <a16:creationId xmlns:a16="http://schemas.microsoft.com/office/drawing/2014/main" id="{0420B18C-B549-7162-8546-348BBE3EAEBA}"/>
              </a:ext>
            </a:extLst>
          </p:cNvPr>
          <p:cNvSpPr>
            <a:spLocks noGrp="1"/>
          </p:cNvSpPr>
          <p:nvPr>
            <p:ph idx="1"/>
          </p:nvPr>
        </p:nvSpPr>
        <p:spPr>
          <a:xfrm>
            <a:off x="612647" y="1127153"/>
            <a:ext cx="10653579" cy="5182207"/>
          </a:xfrm>
        </p:spPr>
        <p:txBody>
          <a:bodyPr vert="horz" lIns="91440" tIns="45720" rIns="91440" bIns="45720" rtlCol="0" anchor="t">
            <a:normAutofit/>
          </a:bodyPr>
          <a:lstStyle/>
          <a:p>
            <a:endParaRPr lang="en-US" dirty="0"/>
          </a:p>
          <a:p>
            <a:pPr marL="0" indent="0">
              <a:buNone/>
            </a:pPr>
            <a:endParaRPr lang="en-US" dirty="0"/>
          </a:p>
        </p:txBody>
      </p:sp>
      <p:pic>
        <p:nvPicPr>
          <p:cNvPr id="5" name="Picture 4" descr="Logo&#10;&#10;Description automatically generated">
            <a:extLst>
              <a:ext uri="{FF2B5EF4-FFF2-40B4-BE49-F238E27FC236}">
                <a16:creationId xmlns:a16="http://schemas.microsoft.com/office/drawing/2014/main" id="{595D1228-FCDA-B01D-9D41-A3FD3867238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14" name="Group 13">
            <a:extLst>
              <a:ext uri="{FF2B5EF4-FFF2-40B4-BE49-F238E27FC236}">
                <a16:creationId xmlns:a16="http://schemas.microsoft.com/office/drawing/2014/main" id="{CFEB7926-875E-EC1F-A01C-9863D08972CB}"/>
              </a:ext>
            </a:extLst>
          </p:cNvPr>
          <p:cNvGrpSpPr/>
          <p:nvPr/>
        </p:nvGrpSpPr>
        <p:grpSpPr>
          <a:xfrm>
            <a:off x="225730" y="6192199"/>
            <a:ext cx="11731301" cy="492167"/>
            <a:chOff x="632130" y="7133055"/>
            <a:chExt cx="11691611" cy="633344"/>
          </a:xfrm>
        </p:grpSpPr>
        <p:grpSp>
          <p:nvGrpSpPr>
            <p:cNvPr id="7" name="Group 6">
              <a:extLst>
                <a:ext uri="{FF2B5EF4-FFF2-40B4-BE49-F238E27FC236}">
                  <a16:creationId xmlns:a16="http://schemas.microsoft.com/office/drawing/2014/main" id="{24EE2FB0-E110-81DC-76D7-B9FC786640B1}"/>
                </a:ext>
              </a:extLst>
            </p:cNvPr>
            <p:cNvGrpSpPr/>
            <p:nvPr/>
          </p:nvGrpSpPr>
          <p:grpSpPr>
            <a:xfrm>
              <a:off x="632130" y="7196670"/>
              <a:ext cx="11691611" cy="554421"/>
              <a:chOff x="632130" y="7196670"/>
              <a:chExt cx="11553746" cy="411521"/>
            </a:xfrm>
          </p:grpSpPr>
          <p:pic>
            <p:nvPicPr>
              <p:cNvPr id="10" name="Picture 9">
                <a:extLst>
                  <a:ext uri="{FF2B5EF4-FFF2-40B4-BE49-F238E27FC236}">
                    <a16:creationId xmlns:a16="http://schemas.microsoft.com/office/drawing/2014/main" id="{84A592C4-FCFC-B5B2-9971-0079F5E0C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a:extLst>
                  <a:ext uri="{FF2B5EF4-FFF2-40B4-BE49-F238E27FC236}">
                    <a16:creationId xmlns:a16="http://schemas.microsoft.com/office/drawing/2014/main" id="{5784E0E4-5780-F74F-6526-9DE706A3AF46}"/>
                  </a:ext>
                </a:extLst>
              </p:cNvPr>
              <p:cNvGrpSpPr/>
              <p:nvPr/>
            </p:nvGrpSpPr>
            <p:grpSpPr>
              <a:xfrm>
                <a:off x="632130" y="7196670"/>
                <a:ext cx="11553746" cy="411521"/>
                <a:chOff x="632130" y="7196670"/>
                <a:chExt cx="8686800" cy="381006"/>
              </a:xfrm>
            </p:grpSpPr>
            <p:sp>
              <p:nvSpPr>
                <p:cNvPr id="12" name="Rectangle 11">
                  <a:extLst>
                    <a:ext uri="{FF2B5EF4-FFF2-40B4-BE49-F238E27FC236}">
                      <a16:creationId xmlns:a16="http://schemas.microsoft.com/office/drawing/2014/main" id="{9E594554-FF73-62A9-E7CF-578C9C86F305}"/>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3" name="Rectangle 12">
                  <a:extLst>
                    <a:ext uri="{FF2B5EF4-FFF2-40B4-BE49-F238E27FC236}">
                      <a16:creationId xmlns:a16="http://schemas.microsoft.com/office/drawing/2014/main" id="{7CB4300F-0820-DAD7-9770-73E00C0E091A}"/>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8" name="Picture 7">
              <a:extLst>
                <a:ext uri="{FF2B5EF4-FFF2-40B4-BE49-F238E27FC236}">
                  <a16:creationId xmlns:a16="http://schemas.microsoft.com/office/drawing/2014/main" id="{B188439E-B1B5-E141-F90B-159E238BD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8">
              <a:extLst>
                <a:ext uri="{FF2B5EF4-FFF2-40B4-BE49-F238E27FC236}">
                  <a16:creationId xmlns:a16="http://schemas.microsoft.com/office/drawing/2014/main" id="{7EB9B761-AE28-5815-4E35-48AD459F0637}"/>
                </a:ext>
              </a:extLst>
            </p:cNvPr>
            <p:cNvSpPr txBox="1"/>
            <p:nvPr/>
          </p:nvSpPr>
          <p:spPr>
            <a:xfrm>
              <a:off x="9389075" y="7133055"/>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pic>
        <p:nvPicPr>
          <p:cNvPr id="16" name="Picture 15" descr="A flowchart of a patient&#10;&#10;AI-generated content may be incorrect.">
            <a:extLst>
              <a:ext uri="{FF2B5EF4-FFF2-40B4-BE49-F238E27FC236}">
                <a16:creationId xmlns:a16="http://schemas.microsoft.com/office/drawing/2014/main" id="{D9768930-5C3E-423D-6823-A36B7022C32B}"/>
              </a:ext>
            </a:extLst>
          </p:cNvPr>
          <p:cNvPicPr>
            <a:picLocks noChangeAspect="1"/>
          </p:cNvPicPr>
          <p:nvPr/>
        </p:nvPicPr>
        <p:blipFill>
          <a:blip r:embed="rId4"/>
          <a:stretch>
            <a:fillRect/>
          </a:stretch>
        </p:blipFill>
        <p:spPr>
          <a:xfrm>
            <a:off x="3578228" y="0"/>
            <a:ext cx="5466674" cy="6179257"/>
          </a:xfrm>
          <a:prstGeom prst="rect">
            <a:avLst/>
          </a:prstGeom>
        </p:spPr>
      </p:pic>
    </p:spTree>
    <p:extLst>
      <p:ext uri="{BB962C8B-B14F-4D97-AF65-F5344CB8AC3E}">
        <p14:creationId xmlns:p14="http://schemas.microsoft.com/office/powerpoint/2010/main" val="2811660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20EE-DFF3-FF4E-6B9A-D9C9173F3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93862-9262-A4E8-7E29-AA352C79847D}"/>
              </a:ext>
            </a:extLst>
          </p:cNvPr>
          <p:cNvSpPr>
            <a:spLocks noGrp="1"/>
          </p:cNvSpPr>
          <p:nvPr>
            <p:ph type="title"/>
          </p:nvPr>
        </p:nvSpPr>
        <p:spPr/>
        <p:txBody>
          <a:bodyPr/>
          <a:lstStyle/>
          <a:p>
            <a:r>
              <a:rPr lang="en-US"/>
              <a:t>Q/A</a:t>
            </a:r>
          </a:p>
        </p:txBody>
      </p:sp>
      <p:pic>
        <p:nvPicPr>
          <p:cNvPr id="20" name="Content Placeholder 19" descr="Questions and answers qa abbreviated ...">
            <a:extLst>
              <a:ext uri="{FF2B5EF4-FFF2-40B4-BE49-F238E27FC236}">
                <a16:creationId xmlns:a16="http://schemas.microsoft.com/office/drawing/2014/main" id="{7D52D509-CE74-543A-EC6E-75C8CAC7A44D}"/>
              </a:ext>
            </a:extLst>
          </p:cNvPr>
          <p:cNvPicPr>
            <a:picLocks noGrp="1" noChangeAspect="1"/>
          </p:cNvPicPr>
          <p:nvPr>
            <p:ph idx="1"/>
          </p:nvPr>
        </p:nvPicPr>
        <p:blipFill>
          <a:blip r:embed="rId2"/>
          <a:stretch>
            <a:fillRect/>
          </a:stretch>
        </p:blipFill>
        <p:spPr>
          <a:xfrm>
            <a:off x="3047389" y="1820679"/>
            <a:ext cx="5921375" cy="3179151"/>
          </a:xfrm>
          <a:prstGeom prst="rect">
            <a:avLst/>
          </a:prstGeom>
        </p:spPr>
      </p:pic>
      <p:pic>
        <p:nvPicPr>
          <p:cNvPr id="5" name="Picture 4" descr="Logo&#10;&#10;Description automatically generated">
            <a:extLst>
              <a:ext uri="{FF2B5EF4-FFF2-40B4-BE49-F238E27FC236}">
                <a16:creationId xmlns:a16="http://schemas.microsoft.com/office/drawing/2014/main" id="{5540EDEE-AF01-65B6-2C14-2B3D3F4F66FF}"/>
              </a:ext>
            </a:extLst>
          </p:cNvPr>
          <p:cNvPicPr>
            <a:picLocks noChangeAspect="1"/>
          </p:cNvPicPr>
          <p:nvPr/>
        </p:nvPicPr>
        <p:blipFill>
          <a:blip r:embed="rId3"/>
          <a:stretch>
            <a:fillRect/>
          </a:stretch>
        </p:blipFill>
        <p:spPr>
          <a:xfrm>
            <a:off x="9731772" y="199050"/>
            <a:ext cx="2228850" cy="485775"/>
          </a:xfrm>
          <a:prstGeom prst="rect">
            <a:avLst/>
          </a:prstGeom>
        </p:spPr>
      </p:pic>
      <p:grpSp>
        <p:nvGrpSpPr>
          <p:cNvPr id="14" name="Group 13">
            <a:extLst>
              <a:ext uri="{FF2B5EF4-FFF2-40B4-BE49-F238E27FC236}">
                <a16:creationId xmlns:a16="http://schemas.microsoft.com/office/drawing/2014/main" id="{F20573D5-52C5-B569-DDC0-C6582F92E055}"/>
              </a:ext>
            </a:extLst>
          </p:cNvPr>
          <p:cNvGrpSpPr/>
          <p:nvPr/>
        </p:nvGrpSpPr>
        <p:grpSpPr>
          <a:xfrm>
            <a:off x="225730" y="6241621"/>
            <a:ext cx="11731301" cy="442739"/>
            <a:chOff x="632130" y="7196661"/>
            <a:chExt cx="11691611" cy="569738"/>
          </a:xfrm>
        </p:grpSpPr>
        <p:grpSp>
          <p:nvGrpSpPr>
            <p:cNvPr id="7" name="Group 6">
              <a:extLst>
                <a:ext uri="{FF2B5EF4-FFF2-40B4-BE49-F238E27FC236}">
                  <a16:creationId xmlns:a16="http://schemas.microsoft.com/office/drawing/2014/main" id="{F5BDCF08-BA54-7C30-9581-30248510E909}"/>
                </a:ext>
              </a:extLst>
            </p:cNvPr>
            <p:cNvGrpSpPr/>
            <p:nvPr/>
          </p:nvGrpSpPr>
          <p:grpSpPr>
            <a:xfrm>
              <a:off x="632130" y="7196670"/>
              <a:ext cx="11691611" cy="554421"/>
              <a:chOff x="632130" y="7196670"/>
              <a:chExt cx="11553746" cy="411521"/>
            </a:xfrm>
          </p:grpSpPr>
          <p:pic>
            <p:nvPicPr>
              <p:cNvPr id="10" name="Picture 9">
                <a:extLst>
                  <a:ext uri="{FF2B5EF4-FFF2-40B4-BE49-F238E27FC236}">
                    <a16:creationId xmlns:a16="http://schemas.microsoft.com/office/drawing/2014/main" id="{7A557B8F-8433-BA8E-EA05-0ACDFB878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a:extLst>
                  <a:ext uri="{FF2B5EF4-FFF2-40B4-BE49-F238E27FC236}">
                    <a16:creationId xmlns:a16="http://schemas.microsoft.com/office/drawing/2014/main" id="{888ACD43-B2ED-B193-0426-141B45CE1C67}"/>
                  </a:ext>
                </a:extLst>
              </p:cNvPr>
              <p:cNvGrpSpPr/>
              <p:nvPr/>
            </p:nvGrpSpPr>
            <p:grpSpPr>
              <a:xfrm>
                <a:off x="632130" y="7196670"/>
                <a:ext cx="11553746" cy="411521"/>
                <a:chOff x="632130" y="7196670"/>
                <a:chExt cx="8686800" cy="381006"/>
              </a:xfrm>
            </p:grpSpPr>
            <p:sp>
              <p:nvSpPr>
                <p:cNvPr id="12" name="Rectangle 11">
                  <a:extLst>
                    <a:ext uri="{FF2B5EF4-FFF2-40B4-BE49-F238E27FC236}">
                      <a16:creationId xmlns:a16="http://schemas.microsoft.com/office/drawing/2014/main" id="{AD7286C1-309D-C48B-F974-C1798DBD760D}"/>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3" name="Rectangle 12">
                  <a:extLst>
                    <a:ext uri="{FF2B5EF4-FFF2-40B4-BE49-F238E27FC236}">
                      <a16:creationId xmlns:a16="http://schemas.microsoft.com/office/drawing/2014/main" id="{64494232-F8BA-2706-4607-364EE29E34AC}"/>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8" name="Picture 7">
              <a:extLst>
                <a:ext uri="{FF2B5EF4-FFF2-40B4-BE49-F238E27FC236}">
                  <a16:creationId xmlns:a16="http://schemas.microsoft.com/office/drawing/2014/main" id="{89FAD141-8910-2F21-95D6-01E2DF06DF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8">
              <a:extLst>
                <a:ext uri="{FF2B5EF4-FFF2-40B4-BE49-F238E27FC236}">
                  <a16:creationId xmlns:a16="http://schemas.microsoft.com/office/drawing/2014/main" id="{8E9348C7-65D0-3AAF-94BD-32766059974B}"/>
                </a:ext>
              </a:extLst>
            </p:cNvPr>
            <p:cNvSpPr txBox="1"/>
            <p:nvPr/>
          </p:nvSpPr>
          <p:spPr>
            <a:xfrm>
              <a:off x="9389075" y="7196661"/>
              <a:ext cx="2778325" cy="523220"/>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211975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6181A-8214-9CFC-DD31-6A2F9EC7D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29CE9-8037-1D6A-25EE-E9818676F076}"/>
              </a:ext>
            </a:extLst>
          </p:cNvPr>
          <p:cNvSpPr>
            <a:spLocks noGrp="1"/>
          </p:cNvSpPr>
          <p:nvPr>
            <p:ph type="ctrTitle"/>
          </p:nvPr>
        </p:nvSpPr>
        <p:spPr>
          <a:xfrm>
            <a:off x="1524000" y="1853883"/>
            <a:ext cx="9144000" cy="2387600"/>
          </a:xfrm>
        </p:spPr>
        <p:txBody>
          <a:bodyPr vert="horz" lIns="91440" tIns="45720" rIns="91440" bIns="45720" rtlCol="0" anchor="ctr">
            <a:normAutofit/>
          </a:bodyPr>
          <a:lstStyle/>
          <a:p>
            <a:r>
              <a:rPr lang="en-US" b="1"/>
              <a:t>Thank You</a:t>
            </a:r>
            <a:endParaRPr lang="en-US"/>
          </a:p>
        </p:txBody>
      </p:sp>
      <p:pic>
        <p:nvPicPr>
          <p:cNvPr id="4" name="Picture 3" descr="Logo&#10;&#10;Description automatically generated">
            <a:extLst>
              <a:ext uri="{FF2B5EF4-FFF2-40B4-BE49-F238E27FC236}">
                <a16:creationId xmlns:a16="http://schemas.microsoft.com/office/drawing/2014/main" id="{27EA3C44-1DC0-1BD3-CA5C-7FB0764A68B6}"/>
              </a:ext>
            </a:extLst>
          </p:cNvPr>
          <p:cNvPicPr>
            <a:picLocks noChangeAspect="1"/>
          </p:cNvPicPr>
          <p:nvPr/>
        </p:nvPicPr>
        <p:blipFill>
          <a:blip r:embed="rId2"/>
          <a:stretch>
            <a:fillRect/>
          </a:stretch>
        </p:blipFill>
        <p:spPr>
          <a:xfrm>
            <a:off x="9731772" y="199050"/>
            <a:ext cx="2228850" cy="485775"/>
          </a:xfrm>
          <a:prstGeom prst="rect">
            <a:avLst/>
          </a:prstGeom>
        </p:spPr>
      </p:pic>
      <p:grpSp>
        <p:nvGrpSpPr>
          <p:cNvPr id="5" name="Group 4">
            <a:extLst>
              <a:ext uri="{FF2B5EF4-FFF2-40B4-BE49-F238E27FC236}">
                <a16:creationId xmlns:a16="http://schemas.microsoft.com/office/drawing/2014/main" id="{B4BB779F-0FB1-4442-C814-50B25C222E7E}"/>
              </a:ext>
            </a:extLst>
          </p:cNvPr>
          <p:cNvGrpSpPr/>
          <p:nvPr/>
        </p:nvGrpSpPr>
        <p:grpSpPr>
          <a:xfrm>
            <a:off x="225730" y="6183961"/>
            <a:ext cx="11731301" cy="500405"/>
            <a:chOff x="632130" y="7122454"/>
            <a:chExt cx="11691611" cy="643945"/>
          </a:xfrm>
        </p:grpSpPr>
        <p:grpSp>
          <p:nvGrpSpPr>
            <p:cNvPr id="6" name="Group 5">
              <a:extLst>
                <a:ext uri="{FF2B5EF4-FFF2-40B4-BE49-F238E27FC236}">
                  <a16:creationId xmlns:a16="http://schemas.microsoft.com/office/drawing/2014/main" id="{BB7551B4-EB9E-2594-B619-D2308C364688}"/>
                </a:ext>
              </a:extLst>
            </p:cNvPr>
            <p:cNvGrpSpPr/>
            <p:nvPr/>
          </p:nvGrpSpPr>
          <p:grpSpPr>
            <a:xfrm>
              <a:off x="632130" y="7196670"/>
              <a:ext cx="11691611" cy="554421"/>
              <a:chOff x="632130" y="7196670"/>
              <a:chExt cx="11553746" cy="411521"/>
            </a:xfrm>
          </p:grpSpPr>
          <p:pic>
            <p:nvPicPr>
              <p:cNvPr id="9" name="Picture 8">
                <a:extLst>
                  <a:ext uri="{FF2B5EF4-FFF2-40B4-BE49-F238E27FC236}">
                    <a16:creationId xmlns:a16="http://schemas.microsoft.com/office/drawing/2014/main" id="{EECE0C26-C666-952B-8A22-C9F74D901C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49" y="7196679"/>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Group 9">
                <a:extLst>
                  <a:ext uri="{FF2B5EF4-FFF2-40B4-BE49-F238E27FC236}">
                    <a16:creationId xmlns:a16="http://schemas.microsoft.com/office/drawing/2014/main" id="{8877155C-DA60-5000-0F7E-01825B5AFB96}"/>
                  </a:ext>
                </a:extLst>
              </p:cNvPr>
              <p:cNvGrpSpPr/>
              <p:nvPr/>
            </p:nvGrpSpPr>
            <p:grpSpPr>
              <a:xfrm>
                <a:off x="632130" y="7196670"/>
                <a:ext cx="11553746" cy="411521"/>
                <a:chOff x="632130" y="7196670"/>
                <a:chExt cx="8686800" cy="381006"/>
              </a:xfrm>
            </p:grpSpPr>
            <p:sp>
              <p:nvSpPr>
                <p:cNvPr id="11" name="Rectangle 10">
                  <a:extLst>
                    <a:ext uri="{FF2B5EF4-FFF2-40B4-BE49-F238E27FC236}">
                      <a16:creationId xmlns:a16="http://schemas.microsoft.com/office/drawing/2014/main" id="{9FBBD8B1-772B-7C8F-48F4-F1688B39656F}"/>
                    </a:ext>
                  </a:extLst>
                </p:cNvPr>
                <p:cNvSpPr/>
                <p:nvPr/>
              </p:nvSpPr>
              <p:spPr>
                <a:xfrm>
                  <a:off x="3451530" y="7196670"/>
                  <a:ext cx="5867400" cy="381000"/>
                </a:xfrm>
                <a:prstGeom prst="rect">
                  <a:avLst/>
                </a:prstGeom>
                <a:solidFill>
                  <a:srgbClr val="2B30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sp>
              <p:nvSpPr>
                <p:cNvPr id="12" name="Rectangle 11">
                  <a:extLst>
                    <a:ext uri="{FF2B5EF4-FFF2-40B4-BE49-F238E27FC236}">
                      <a16:creationId xmlns:a16="http://schemas.microsoft.com/office/drawing/2014/main" id="{A0B60D43-1825-C390-7ABE-0953F3CC0355}"/>
                    </a:ext>
                  </a:extLst>
                </p:cNvPr>
                <p:cNvSpPr/>
                <p:nvPr/>
              </p:nvSpPr>
              <p:spPr>
                <a:xfrm>
                  <a:off x="632130" y="7196676"/>
                  <a:ext cx="28194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endParaRPr lang="en-IN"/>
                </a:p>
              </p:txBody>
            </p:sp>
          </p:grpSp>
        </p:grpSp>
        <p:pic>
          <p:nvPicPr>
            <p:cNvPr id="7" name="Picture 6">
              <a:extLst>
                <a:ext uri="{FF2B5EF4-FFF2-40B4-BE49-F238E27FC236}">
                  <a16:creationId xmlns:a16="http://schemas.microsoft.com/office/drawing/2014/main" id="{559D69DC-8135-677A-4786-AB421A751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946" y="7375874"/>
              <a:ext cx="374967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8">
              <a:extLst>
                <a:ext uri="{FF2B5EF4-FFF2-40B4-BE49-F238E27FC236}">
                  <a16:creationId xmlns:a16="http://schemas.microsoft.com/office/drawing/2014/main" id="{4387BD3F-CBC8-AF64-9852-D1732E5246EB}"/>
                </a:ext>
              </a:extLst>
            </p:cNvPr>
            <p:cNvSpPr txBox="1"/>
            <p:nvPr/>
          </p:nvSpPr>
          <p:spPr>
            <a:xfrm>
              <a:off x="9389075" y="7122454"/>
              <a:ext cx="2778325" cy="523219"/>
            </a:xfrm>
            <a:prstGeom prst="rect">
              <a:avLst/>
            </a:prstGeom>
            <a:noFill/>
          </p:spPr>
          <p:txBody>
            <a:bodyPr wrap="none" rtlCol="0">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tx1"/>
                  </a:solidFill>
                  <a:latin typeface="+mn-lt"/>
                  <a:ea typeface="+mn-ea"/>
                  <a:cs typeface="+mn-cs"/>
                  <a:sym typeface="Arial"/>
                </a:defRPr>
              </a:lvl9pPr>
            </a:lstStyle>
            <a:p>
              <a:r>
                <a:rPr lang="en-US" sz="2800" b="1">
                  <a:solidFill>
                    <a:schemeClr val="bg1"/>
                  </a:solidFill>
                </a:rPr>
                <a:t>Simple Solutions!</a:t>
              </a:r>
            </a:p>
          </p:txBody>
        </p:sp>
      </p:grpSp>
    </p:spTree>
    <p:extLst>
      <p:ext uri="{BB962C8B-B14F-4D97-AF65-F5344CB8AC3E}">
        <p14:creationId xmlns:p14="http://schemas.microsoft.com/office/powerpoint/2010/main" val="985481325"/>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VanillaVTI</vt:lpstr>
      <vt:lpstr>CAPSTONE PROJECT</vt:lpstr>
      <vt:lpstr>Project Overview</vt:lpstr>
      <vt:lpstr>Scope   : </vt:lpstr>
      <vt:lpstr>Actors &amp; Their Roles</vt:lpstr>
      <vt:lpstr>Actors &amp; Their Roles</vt:lpstr>
      <vt:lpstr>Actors &amp; Their Roles</vt:lpstr>
      <vt:lpstr>System Architecture</vt:lpstr>
      <vt:lpstr>Use Case  Diagram</vt:lpstr>
      <vt:lpstr>DB Diagram</vt:lpstr>
      <vt:lpstr>Documents</vt:lpstr>
      <vt:lpstr>Technology stack</vt:lpstr>
      <vt:lpstr>Flow Chart </vt:lpstr>
      <vt:lpstr>Q/A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dc:title>
  <dc:creator/>
  <cp:revision>734</cp:revision>
  <dcterms:created xsi:type="dcterms:W3CDTF">2025-07-23T04:22:15Z</dcterms:created>
  <dcterms:modified xsi:type="dcterms:W3CDTF">2025-08-18T17:32:26Z</dcterms:modified>
</cp:coreProperties>
</file>