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66" r:id="rId4"/>
    <p:sldId id="274" r:id="rId5"/>
    <p:sldId id="276" r:id="rId6"/>
    <p:sldId id="271" r:id="rId7"/>
    <p:sldId id="268" r:id="rId8"/>
    <p:sldId id="269" r:id="rId9"/>
    <p:sldId id="267" r:id="rId10"/>
    <p:sldId id="272" r:id="rId11"/>
    <p:sldId id="27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088"/>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FDB8CF-8617-27DD-F608-1C66000AB202}" v="2" dt="2025-08-14T12:04:02.249"/>
    <p1510:client id="{21DBC925-C157-3A53-D435-DFA552A5AAF6}" v="841" dt="2025-08-16T11:05:37.4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8/16/2025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0885167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8/16/2025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821855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8/16/2025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506612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8/16/2025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82056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8/16/2025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725828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8/16/2025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641294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8/16/2025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251453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8/16/2025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250871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8/16/2025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46850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8/16/2025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38513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8/16/2025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6383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8/16/2025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22864106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docs.google.com/document/d/11zQd94dcNsSdtHys3PguCXAeLI2wzDxHjXA6eB01Q7s/edit?tab=t.0" TargetMode="External"/><Relationship Id="rId7" Type="http://schemas.openxmlformats.org/officeDocument/2006/relationships/image" Target="../media/image1.png"/><Relationship Id="rId2" Type="http://schemas.openxmlformats.org/officeDocument/2006/relationships/hyperlink" Target="https://docs.google.com/document/d/1pN_Kaz18WWZ2RTRnAm22dm8UPUyEQbVLw99KFK6s9uA/edit?tab=t.0" TargetMode="External"/><Relationship Id="rId1" Type="http://schemas.openxmlformats.org/officeDocument/2006/relationships/slideLayout" Target="../slideLayouts/slideLayout2.xml"/><Relationship Id="rId6" Type="http://schemas.openxmlformats.org/officeDocument/2006/relationships/hyperlink" Target="http://C:/Users/sireesha.bobbili/OneDrive%20-%20iqgateway%20pvt%20ltd/TEST%20REPORTS%20FOR%20ADMIT,ROOM%20TRANSFER%20&amp;DISCHARGE.docx" TargetMode="External"/><Relationship Id="rId5" Type="http://schemas.openxmlformats.org/officeDocument/2006/relationships/hyperlink" Target="http://C:/Users/sireesha.bobbili/OneDrive%20-%20iqgateway%20pvt%20ltd/QSC%20%20ADMIT,ROOM%20TRANSFER%20&amp;%20DISCHARGE%20SYSTEM.docx" TargetMode="External"/><Relationship Id="rId4" Type="http://schemas.openxmlformats.org/officeDocument/2006/relationships/hyperlink" Target="https://docs.google.com/document/d/1L3zanIyf2EWbZ8ZGPRYDvgZ5-p4peskSe5Elyli4SJw/edit?tab=t.jkputjozwsj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78523"/>
            <a:ext cx="9144000" cy="2387600"/>
          </a:xfrm>
        </p:spPr>
        <p:txBody>
          <a:bodyPr vert="horz" lIns="91440" tIns="45720" rIns="91440" bIns="45720" rtlCol="0" anchor="ctr">
            <a:normAutofit/>
          </a:bodyPr>
          <a:lstStyle/>
          <a:p>
            <a:r>
              <a:rPr lang="en-US" b="1">
                <a:solidFill>
                  <a:srgbClr val="C00000"/>
                </a:solidFill>
              </a:rPr>
              <a:t>C</a:t>
            </a:r>
            <a:r>
              <a:rPr lang="en-US" b="1">
                <a:solidFill>
                  <a:srgbClr val="2B3088"/>
                </a:solidFill>
              </a:rPr>
              <a:t>APSTONE</a:t>
            </a:r>
            <a:r>
              <a:rPr lang="en-US" b="1"/>
              <a:t> </a:t>
            </a:r>
            <a:r>
              <a:rPr lang="en-US" b="1">
                <a:solidFill>
                  <a:srgbClr val="C00000"/>
                </a:solidFill>
              </a:rPr>
              <a:t>P</a:t>
            </a:r>
            <a:r>
              <a:rPr lang="en-US" b="1">
                <a:solidFill>
                  <a:srgbClr val="2B3088"/>
                </a:solidFill>
              </a:rPr>
              <a:t>ROJECT</a:t>
            </a:r>
          </a:p>
        </p:txBody>
      </p:sp>
      <p:sp>
        <p:nvSpPr>
          <p:cNvPr id="3" name="Subtitle 2"/>
          <p:cNvSpPr>
            <a:spLocks noGrp="1"/>
          </p:cNvSpPr>
          <p:nvPr>
            <p:ph type="subTitle" idx="1"/>
          </p:nvPr>
        </p:nvSpPr>
        <p:spPr>
          <a:xfrm>
            <a:off x="1696720" y="2596198"/>
            <a:ext cx="9144000" cy="1655762"/>
          </a:xfrm>
        </p:spPr>
        <p:txBody>
          <a:bodyPr vert="horz" lIns="91440" tIns="45720" rIns="91440" bIns="45720" rtlCol="0" anchor="ctr">
            <a:normAutofit/>
          </a:bodyPr>
          <a:lstStyle/>
          <a:p>
            <a:r>
              <a:rPr lang="en-US" sz="3600" b="1" dirty="0">
                <a:solidFill>
                  <a:schemeClr val="accent2">
                    <a:lumMod val="76000"/>
                  </a:schemeClr>
                </a:solidFill>
                <a:ea typeface="+mn-lt"/>
                <a:cs typeface="+mn-lt"/>
              </a:rPr>
              <a:t>Outpatient Schedule Tracking</a:t>
            </a:r>
            <a:endParaRPr lang="en-US" sz="3600" b="1">
              <a:solidFill>
                <a:schemeClr val="accent2">
                  <a:lumMod val="76000"/>
                </a:schemeClr>
              </a:solidFill>
            </a:endParaRPr>
          </a:p>
        </p:txBody>
      </p:sp>
      <p:pic>
        <p:nvPicPr>
          <p:cNvPr id="4" name="Picture 3" descr="Logo&#10;&#10;Description automatically generated">
            <a:extLst>
              <a:ext uri="{FF2B5EF4-FFF2-40B4-BE49-F238E27FC236}">
                <a16:creationId xmlns:a16="http://schemas.microsoft.com/office/drawing/2014/main" id="{D37D6CE7-FED2-6658-93BE-A881071DE299}"/>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E2FD8EF-20C3-F6D1-CD7D-D35BB3582C22}"/>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0F9282D0-5DF6-4599-8F0D-59E7E29C7F5D}"/>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208D02CA-0676-B6F8-351B-A628E5FB0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08A55E95-DDB9-D5A6-BAB6-7CCE7A657822}"/>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BD97B124-C726-EE88-FB5D-94ABCB78910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2E15BA93-5410-483C-2F14-906366228829}"/>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AEED786E-E24D-0A38-1392-3E94171D2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203925CA-D090-0AFB-A575-2C8BBBC3FCA6}"/>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
        <p:nvSpPr>
          <p:cNvPr id="13" name="TextBox 12">
            <a:extLst>
              <a:ext uri="{FF2B5EF4-FFF2-40B4-BE49-F238E27FC236}">
                <a16:creationId xmlns:a16="http://schemas.microsoft.com/office/drawing/2014/main" id="{D96523A4-DED4-9C0B-BD63-6C92F4A9F76C}"/>
              </a:ext>
            </a:extLst>
          </p:cNvPr>
          <p:cNvSpPr txBox="1"/>
          <p:nvPr/>
        </p:nvSpPr>
        <p:spPr>
          <a:xfrm>
            <a:off x="8900160" y="5303520"/>
            <a:ext cx="30022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err="1"/>
              <a:t>Routhu</a:t>
            </a:r>
            <a:r>
              <a:rPr lang="en-US" sz="2400" b="1" dirty="0"/>
              <a:t> Rambabu</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844C-7356-22A4-15CE-D77C37A9B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478AC-FAA6-5BE1-29DD-1026701C0765}"/>
              </a:ext>
            </a:extLst>
          </p:cNvPr>
          <p:cNvSpPr>
            <a:spLocks noGrp="1"/>
          </p:cNvSpPr>
          <p:nvPr>
            <p:ph type="ctrTitle"/>
          </p:nvPr>
        </p:nvSpPr>
        <p:spPr>
          <a:xfrm>
            <a:off x="223520" y="4763"/>
            <a:ext cx="5161280" cy="894080"/>
          </a:xfrm>
        </p:spPr>
        <p:txBody>
          <a:bodyPr vert="horz" lIns="91440" tIns="45720" rIns="91440" bIns="45720" rtlCol="0" anchor="ctr">
            <a:normAutofit/>
          </a:bodyPr>
          <a:lstStyle/>
          <a:p>
            <a:r>
              <a:rPr lang="en-US" sz="4400" b="1" dirty="0"/>
              <a:t>Project Overview</a:t>
            </a:r>
          </a:p>
        </p:txBody>
      </p:sp>
      <p:sp>
        <p:nvSpPr>
          <p:cNvPr id="3" name="Subtitle 2">
            <a:extLst>
              <a:ext uri="{FF2B5EF4-FFF2-40B4-BE49-F238E27FC236}">
                <a16:creationId xmlns:a16="http://schemas.microsoft.com/office/drawing/2014/main" id="{A7B7BB01-D108-497E-F2B5-368E8C06318E}"/>
              </a:ext>
            </a:extLst>
          </p:cNvPr>
          <p:cNvSpPr>
            <a:spLocks noGrp="1"/>
          </p:cNvSpPr>
          <p:nvPr>
            <p:ph type="subTitle" idx="1"/>
          </p:nvPr>
        </p:nvSpPr>
        <p:spPr>
          <a:xfrm>
            <a:off x="224820" y="1183958"/>
            <a:ext cx="11591733" cy="3032175"/>
          </a:xfrm>
        </p:spPr>
        <p:txBody>
          <a:bodyPr vert="horz" lIns="91440" tIns="45720" rIns="91440" bIns="45720" rtlCol="0" anchor="ctr">
            <a:noAutofit/>
          </a:bodyPr>
          <a:lstStyle/>
          <a:p>
            <a:pPr algn="l"/>
            <a:r>
              <a:rPr lang="en-US" sz="2400" b="1" dirty="0">
                <a:ea typeface="+mn-lt"/>
                <a:cs typeface="+mn-lt"/>
              </a:rPr>
              <a:t>Introduction :</a:t>
            </a:r>
            <a:r>
              <a:rPr lang="en-US" sz="2400" dirty="0">
                <a:ea typeface="+mn-lt"/>
                <a:cs typeface="+mn-lt"/>
              </a:rPr>
              <a:t> "</a:t>
            </a:r>
            <a:r>
              <a:rPr lang="en-US" sz="2400" dirty="0" err="1">
                <a:ea typeface="+mn-lt"/>
                <a:cs typeface="+mn-lt"/>
              </a:rPr>
              <a:t>Sarvotham's</a:t>
            </a:r>
            <a:r>
              <a:rPr lang="en-US" sz="2400" dirty="0">
                <a:ea typeface="+mn-lt"/>
                <a:cs typeface="+mn-lt"/>
              </a:rPr>
              <a:t> Spine Care," a growing hospital in Bengaluru, is experiencing an increase in patient volume. While they have an effective support system, their current processes for managing outpatient schedules, records, and billing are maintained manually in physical registers. This manual process is inefficient and hinders productivity. The hospital seeks a digital solution to streamline these operations</a:t>
            </a:r>
            <a:endParaRPr lang="en-US" sz="2400" dirty="0"/>
          </a:p>
          <a:p>
            <a:pPr marL="342900" indent="-342900" algn="l">
              <a:lnSpc>
                <a:spcPct val="150000"/>
              </a:lnSpc>
              <a:buChar char="•"/>
            </a:pPr>
            <a:endParaRPr lang="en-US" dirty="0"/>
          </a:p>
        </p:txBody>
      </p:sp>
      <p:pic>
        <p:nvPicPr>
          <p:cNvPr id="4" name="Picture 3" descr="Logo&#10;&#10;Description automatically generated">
            <a:extLst>
              <a:ext uri="{FF2B5EF4-FFF2-40B4-BE49-F238E27FC236}">
                <a16:creationId xmlns:a16="http://schemas.microsoft.com/office/drawing/2014/main" id="{8C4A539C-2AF4-D60A-A9D3-E1F3D3BC6908}"/>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6BAC1D09-6E4B-8587-66E1-AF1C0EB24BF6}"/>
              </a:ext>
            </a:extLst>
          </p:cNvPr>
          <p:cNvGrpSpPr/>
          <p:nvPr/>
        </p:nvGrpSpPr>
        <p:grpSpPr>
          <a:xfrm>
            <a:off x="225730" y="6200436"/>
            <a:ext cx="11731301" cy="483929"/>
            <a:chOff x="632130" y="7143656"/>
            <a:chExt cx="11691611" cy="622743"/>
          </a:xfrm>
        </p:grpSpPr>
        <p:grpSp>
          <p:nvGrpSpPr>
            <p:cNvPr id="6" name="Group 5">
              <a:extLst>
                <a:ext uri="{FF2B5EF4-FFF2-40B4-BE49-F238E27FC236}">
                  <a16:creationId xmlns:a16="http://schemas.microsoft.com/office/drawing/2014/main" id="{1F5DAA49-B078-794C-6173-9306D7A79AF6}"/>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E295F20F-FED9-A0D2-3603-E659F6619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622602ED-4298-2413-8474-BC18E42CC4FF}"/>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E9BD7B5E-016C-11EE-AD7D-0FC30B688FB1}"/>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4F51C4BD-79A0-2143-B25C-11DCB8A8A289}"/>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1BC57609-50E9-402D-7484-EEAD2B83A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A62EB3D-EDD2-8CCF-8E2D-2A146F3589F0}"/>
                </a:ext>
              </a:extLst>
            </p:cNvPr>
            <p:cNvSpPr txBox="1"/>
            <p:nvPr/>
          </p:nvSpPr>
          <p:spPr>
            <a:xfrm>
              <a:off x="9389075" y="7143656"/>
              <a:ext cx="2778325" cy="523220"/>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444305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AA34-29B9-161B-A731-DD037B21F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C6CD5-2620-D0A5-95FF-A8CA103632E0}"/>
              </a:ext>
            </a:extLst>
          </p:cNvPr>
          <p:cNvSpPr>
            <a:spLocks noGrp="1"/>
          </p:cNvSpPr>
          <p:nvPr>
            <p:ph type="ctrTitle"/>
          </p:nvPr>
        </p:nvSpPr>
        <p:spPr>
          <a:xfrm>
            <a:off x="126055" y="75647"/>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643416EE-A007-503B-409C-29C2B310B33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2DB881DE-C1A0-38E2-6432-6E76A0FEEE97}"/>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C7BC1459-0E1A-E56E-8081-B9FEA0157531}"/>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9A5F4142-D4E7-04F7-28D6-20D6A7126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6CFE170D-52D1-00D0-5237-87A78F79BD24}"/>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6944920C-4FDE-033D-5BDE-87E49D912A5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0A4F91D0-1823-E447-93DA-DAA1BF0E488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1ED05BA6-731D-4075-28B4-596AA5C94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38FF8AD4-27D7-3929-3AE4-038FE51C8929}"/>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dirty="0">
                  <a:solidFill>
                    <a:schemeClr val="bg1"/>
                  </a:solidFill>
                </a:rPr>
                <a:t>Simple Solutions!</a:t>
              </a:r>
            </a:p>
          </p:txBody>
        </p:sp>
      </p:grpSp>
      <p:graphicFrame>
        <p:nvGraphicFramePr>
          <p:cNvPr id="14" name="Table 13">
            <a:extLst>
              <a:ext uri="{FF2B5EF4-FFF2-40B4-BE49-F238E27FC236}">
                <a16:creationId xmlns:a16="http://schemas.microsoft.com/office/drawing/2014/main" id="{F1B87EF7-E37F-8ABA-445C-4FAF86343442}"/>
              </a:ext>
            </a:extLst>
          </p:cNvPr>
          <p:cNvGraphicFramePr>
            <a:graphicFrameLocks noGrp="1"/>
          </p:cNvGraphicFramePr>
          <p:nvPr>
            <p:extLst>
              <p:ext uri="{D42A27DB-BD31-4B8C-83A1-F6EECF244321}">
                <p14:modId xmlns:p14="http://schemas.microsoft.com/office/powerpoint/2010/main" val="131960713"/>
              </p:ext>
            </p:extLst>
          </p:nvPr>
        </p:nvGraphicFramePr>
        <p:xfrm>
          <a:off x="200526" y="711868"/>
          <a:ext cx="11873179" cy="6042424"/>
        </p:xfrm>
        <a:graphic>
          <a:graphicData uri="http://schemas.openxmlformats.org/drawingml/2006/table">
            <a:tbl>
              <a:tblPr firstRow="1" bandRow="1">
                <a:tableStyleId>{5C22544A-7EE6-4342-B048-85BDC9FD1C3A}</a:tableStyleId>
              </a:tblPr>
              <a:tblGrid>
                <a:gridCol w="2902800">
                  <a:extLst>
                    <a:ext uri="{9D8B030D-6E8A-4147-A177-3AD203B41FA5}">
                      <a16:colId xmlns:a16="http://schemas.microsoft.com/office/drawing/2014/main" val="3144508012"/>
                    </a:ext>
                  </a:extLst>
                </a:gridCol>
                <a:gridCol w="8970379">
                  <a:extLst>
                    <a:ext uri="{9D8B030D-6E8A-4147-A177-3AD203B41FA5}">
                      <a16:colId xmlns:a16="http://schemas.microsoft.com/office/drawing/2014/main" val="2858299335"/>
                    </a:ext>
                  </a:extLst>
                </a:gridCol>
              </a:tblGrid>
              <a:tr h="537939">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661381">
                <a:tc>
                  <a:txBody>
                    <a:bodyPr/>
                    <a:lstStyle/>
                    <a:p>
                      <a:pPr lvl="0" algn="l">
                        <a:buNone/>
                      </a:pPr>
                      <a:r>
                        <a:rPr lang="en-US" sz="2400" b="0" i="0" u="none" strike="noStrike" noProof="0" dirty="0">
                          <a:solidFill>
                            <a:srgbClr val="000000"/>
                          </a:solidFill>
                          <a:latin typeface="Franklin Gothic Demi"/>
                        </a:rPr>
                        <a:t>Doctor </a:t>
                      </a: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Review comprehensive patient history and diagnostic reports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Provide diagnoses and treatment plans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Prescribe medications and order lab tests or imaging</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Communicate clearly with patients and caregivers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Approve and validate health records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Record consultation notes and follow-up instructions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Coordinate with support staff for continuous patient care</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Manage outpatient schedules and availability</a:t>
                      </a:r>
                      <a:endParaRPr lang="en-US" dirty="0"/>
                    </a:p>
                  </a:txBody>
                  <a:tcPr anchor="ctr">
                    <a:solidFill>
                      <a:schemeClr val="bg1">
                        <a:lumMod val="95000"/>
                      </a:schemeClr>
                    </a:solidFill>
                  </a:tcPr>
                </a:tc>
                <a:extLst>
                  <a:ext uri="{0D108BD9-81ED-4DB2-BD59-A6C34878D82A}">
                    <a16:rowId xmlns:a16="http://schemas.microsoft.com/office/drawing/2014/main" val="2392717345"/>
                  </a:ext>
                </a:extLst>
              </a:tr>
              <a:tr h="2349950">
                <a:tc>
                  <a:txBody>
                    <a:bodyPr/>
                    <a:lstStyle/>
                    <a:p>
                      <a:pPr marL="0" marR="0" lvl="0" indent="0" algn="l">
                        <a:lnSpc>
                          <a:spcPct val="80000"/>
                        </a:lnSpc>
                        <a:spcBef>
                          <a:spcPct val="0"/>
                        </a:spcBef>
                        <a:spcAft>
                          <a:spcPts val="0"/>
                        </a:spcAft>
                        <a:buNone/>
                      </a:pPr>
                      <a:r>
                        <a:rPr lang="en-US" sz="2400" b="0" i="0" u="none" strike="noStrike" noProof="0" dirty="0">
                          <a:solidFill>
                            <a:srgbClr val="000000"/>
                          </a:solidFill>
                          <a:latin typeface="Franklin Gothic Demi"/>
                        </a:rPr>
                        <a:t>Patient</a:t>
                      </a: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Create and manage personal account credentials securely</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Register and update personal and insurance information</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View detailed treatment history and progress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Access billing statements, payment history, and lab results digitally</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Receive notifications about appointments, test results, and billing</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Raise queries or support requests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Maintain privacy settings and consent for data sharing</a:t>
                      </a:r>
                      <a:endParaRPr lang="en-US" sz="1600" dirty="0"/>
                    </a:p>
                  </a:txBody>
                  <a:tcPr anchor="ctr">
                    <a:solidFill>
                      <a:schemeClr val="bg1">
                        <a:lumMod val="95000"/>
                      </a:schemeClr>
                    </a:solidFill>
                  </a:tcPr>
                </a:tc>
                <a:extLst>
                  <a:ext uri="{0D108BD9-81ED-4DB2-BD59-A6C34878D82A}">
                    <a16:rowId xmlns:a16="http://schemas.microsoft.com/office/drawing/2014/main" val="3332989431"/>
                  </a:ext>
                </a:extLst>
              </a:tr>
              <a:tr h="368064">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3664019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DCB0D-957E-8F96-3C12-902211BD2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CA023-9FA5-E086-E909-5A7976E350D5}"/>
              </a:ext>
            </a:extLst>
          </p:cNvPr>
          <p:cNvSpPr>
            <a:spLocks noGrp="1"/>
          </p:cNvSpPr>
          <p:nvPr>
            <p:ph type="ctrTitle"/>
          </p:nvPr>
        </p:nvSpPr>
        <p:spPr>
          <a:xfrm>
            <a:off x="226318" y="195963"/>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1A5BA89D-537D-52D4-20DB-40CB58A683E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799CAA33-E3D7-2741-2923-75678B977DF5}"/>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2425060D-FA20-6F4B-BC6B-1EB188DB6FE6}"/>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BED5A0A9-E784-C75C-D7FE-FF94A0187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AE988AF-DA30-75A9-1830-0AE32774C76F}"/>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081E0987-D641-F874-CFE3-CAD1462A4D89}"/>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AB2E5284-F950-6443-F002-209B4272DFC7}"/>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2BDCACF9-4613-25E1-14F7-EE25396D7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36EAAC25-26A7-1D3F-1A78-4AD3EC735FD4}"/>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graphicFrame>
        <p:nvGraphicFramePr>
          <p:cNvPr id="14" name="Table 13">
            <a:extLst>
              <a:ext uri="{FF2B5EF4-FFF2-40B4-BE49-F238E27FC236}">
                <a16:creationId xmlns:a16="http://schemas.microsoft.com/office/drawing/2014/main" id="{7F664064-CA6B-540D-ABD8-AD36610C6695}"/>
              </a:ext>
            </a:extLst>
          </p:cNvPr>
          <p:cNvGraphicFramePr>
            <a:graphicFrameLocks noGrp="1"/>
          </p:cNvGraphicFramePr>
          <p:nvPr>
            <p:extLst>
              <p:ext uri="{D42A27DB-BD31-4B8C-83A1-F6EECF244321}">
                <p14:modId xmlns:p14="http://schemas.microsoft.com/office/powerpoint/2010/main" val="739398922"/>
              </p:ext>
            </p:extLst>
          </p:nvPr>
        </p:nvGraphicFramePr>
        <p:xfrm>
          <a:off x="230605" y="1042736"/>
          <a:ext cx="11607799" cy="5547298"/>
        </p:xfrm>
        <a:graphic>
          <a:graphicData uri="http://schemas.openxmlformats.org/drawingml/2006/table">
            <a:tbl>
              <a:tblPr firstRow="1" bandRow="1">
                <a:tableStyleId>{5C22544A-7EE6-4342-B048-85BDC9FD1C3A}</a:tableStyleId>
              </a:tblPr>
              <a:tblGrid>
                <a:gridCol w="2920999">
                  <a:extLst>
                    <a:ext uri="{9D8B030D-6E8A-4147-A177-3AD203B41FA5}">
                      <a16:colId xmlns:a16="http://schemas.microsoft.com/office/drawing/2014/main" val="3144508012"/>
                    </a:ext>
                  </a:extLst>
                </a:gridCol>
                <a:gridCol w="8686800">
                  <a:extLst>
                    <a:ext uri="{9D8B030D-6E8A-4147-A177-3AD203B41FA5}">
                      <a16:colId xmlns:a16="http://schemas.microsoft.com/office/drawing/2014/main" val="2858299335"/>
                    </a:ext>
                  </a:extLst>
                </a:gridCol>
              </a:tblGrid>
              <a:tr h="517178">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232033">
                <a:tc>
                  <a:txBody>
                    <a:bodyPr/>
                    <a:lstStyle/>
                    <a:p>
                      <a:pPr lvl="0" algn="l">
                        <a:buNone/>
                      </a:pPr>
                      <a:r>
                        <a:rPr lang="en-US" sz="2400" b="1" i="0" u="none" strike="noStrike" baseline="0" noProof="0" dirty="0">
                          <a:solidFill>
                            <a:srgbClr val="000000"/>
                          </a:solidFill>
                          <a:latin typeface="Aptos Display"/>
                        </a:rPr>
                        <a:t>Support Staff (Nurse / Attender / Lab Technician)</a:t>
                      </a:r>
                      <a:endParaRPr lang="en-US" dirty="0"/>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Preauthorization of Patient</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Admit patients: register patients</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Manage patient data and medical information during admission and stay.</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Submit and track insurance claims of Each patient</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Upload required medical bills, reports, and discharge summaries.</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Respond to queries or requests for medical documents.</a:t>
                      </a:r>
                    </a:p>
                  </a:txBody>
                  <a:tcPr anchor="ctr">
                    <a:solidFill>
                      <a:schemeClr val="bg1">
                        <a:lumMod val="95000"/>
                      </a:schemeClr>
                    </a:solidFill>
                  </a:tcPr>
                </a:tc>
                <a:extLst>
                  <a:ext uri="{0D108BD9-81ED-4DB2-BD59-A6C34878D82A}">
                    <a16:rowId xmlns:a16="http://schemas.microsoft.com/office/drawing/2014/main" val="2392717345"/>
                  </a:ext>
                </a:extLst>
              </a:tr>
              <a:tr h="2300092">
                <a:tc>
                  <a:txBody>
                    <a:bodyPr/>
                    <a:lstStyle/>
                    <a:p>
                      <a:pPr lvl="0" algn="l">
                        <a:lnSpc>
                          <a:spcPct val="100000"/>
                        </a:lnSpc>
                        <a:spcBef>
                          <a:spcPts val="0"/>
                        </a:spcBef>
                        <a:spcAft>
                          <a:spcPts val="0"/>
                        </a:spcAft>
                        <a:buNone/>
                      </a:pPr>
                      <a:r>
                        <a:rPr lang="en-US" sz="2400" b="1" i="0" u="none" strike="noStrike" noProof="0" dirty="0">
                          <a:solidFill>
                            <a:srgbClr val="000000"/>
                          </a:solidFill>
                          <a:latin typeface="Aptos Display"/>
                        </a:rPr>
                        <a:t>Front Desk</a:t>
                      </a:r>
                    </a:p>
                    <a:p>
                      <a:pPr marL="0" marR="0" lvl="0" indent="0" algn="l">
                        <a:lnSpc>
                          <a:spcPct val="80000"/>
                        </a:lnSpc>
                        <a:spcBef>
                          <a:spcPct val="0"/>
                        </a:spcBef>
                        <a:spcAft>
                          <a:spcPts val="0"/>
                        </a:spcAft>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Register and align patients with their specific doctors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Track and update real-time status of patients (waiting, under consultation, completed, etc.)</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Redirect and escalate patient requests to the appropriate support staff promptly</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Manage appointment scheduling and rescheduling</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Verify patient identity and appointment details during check-in</a:t>
                      </a:r>
                      <a:endParaRPr lang="en-US" dirty="0"/>
                    </a:p>
                    <a:p>
                      <a:pPr marL="285750" marR="0" lvl="0" indent="-285750" algn="l">
                        <a:lnSpc>
                          <a:spcPct val="90000"/>
                        </a:lnSpc>
                        <a:spcBef>
                          <a:spcPts val="1000"/>
                        </a:spcBef>
                        <a:spcAft>
                          <a:spcPts val="0"/>
                        </a:spcAft>
                        <a:buFont typeface="Arial"/>
                        <a:buChar char="•"/>
                      </a:pPr>
                      <a:endParaRPr lang="en-US" sz="1600" b="0" i="0" u="none" strike="noStrike" noProof="0" dirty="0">
                        <a:solidFill>
                          <a:srgbClr val="000000"/>
                        </a:solidFill>
                        <a:latin typeface="Aptos"/>
                      </a:endParaRPr>
                    </a:p>
                    <a:p>
                      <a:pPr marL="459740" marR="0" lvl="2" indent="0" algn="l">
                        <a:lnSpc>
                          <a:spcPct val="100000"/>
                        </a:lnSpc>
                        <a:spcBef>
                          <a:spcPts val="0"/>
                        </a:spcBef>
                        <a:spcAft>
                          <a:spcPts val="0"/>
                        </a:spcAft>
                        <a:buNone/>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3332989431"/>
                  </a:ext>
                </a:extLst>
              </a:tr>
              <a:tr h="449129">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294197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2E31-79A7-B199-F101-1A568F616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8E886-D08C-1F27-E953-AB9B02E8C533}"/>
              </a:ext>
            </a:extLst>
          </p:cNvPr>
          <p:cNvSpPr>
            <a:spLocks noGrp="1"/>
          </p:cNvSpPr>
          <p:nvPr>
            <p:ph type="ctrTitle"/>
          </p:nvPr>
        </p:nvSpPr>
        <p:spPr>
          <a:xfrm>
            <a:off x="226318" y="195963"/>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5AC65A9C-279C-3ED4-833C-F905DC3CC367}"/>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88BB2D78-76EF-C517-A540-E64F1B703E33}"/>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8787CE82-92BF-B4A6-BF04-2A1184EBAA79}"/>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CDAC57BE-3BE3-92E2-8E12-004AFAA90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4C155A40-5A6C-5E3A-8F7F-B516A4EF4478}"/>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518858E1-E918-3CF4-0233-B426812199A1}"/>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DC69341D-27B8-E2C0-D550-5B277C82EBB4}"/>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A9C6DE45-3BFF-032C-4A90-084A5A18F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CEF6EF6-B946-895A-F674-655B679D1E0D}"/>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graphicFrame>
        <p:nvGraphicFramePr>
          <p:cNvPr id="14" name="Table 13">
            <a:extLst>
              <a:ext uri="{FF2B5EF4-FFF2-40B4-BE49-F238E27FC236}">
                <a16:creationId xmlns:a16="http://schemas.microsoft.com/office/drawing/2014/main" id="{EED4E3DA-2575-0C6E-F92B-4C277D8C53B7}"/>
              </a:ext>
            </a:extLst>
          </p:cNvPr>
          <p:cNvGraphicFramePr>
            <a:graphicFrameLocks noGrp="1"/>
          </p:cNvGraphicFramePr>
          <p:nvPr>
            <p:extLst>
              <p:ext uri="{D42A27DB-BD31-4B8C-83A1-F6EECF244321}">
                <p14:modId xmlns:p14="http://schemas.microsoft.com/office/powerpoint/2010/main" val="3594064897"/>
              </p:ext>
            </p:extLst>
          </p:nvPr>
        </p:nvGraphicFramePr>
        <p:xfrm>
          <a:off x="230605" y="1042736"/>
          <a:ext cx="11607799" cy="3229802"/>
        </p:xfrm>
        <a:graphic>
          <a:graphicData uri="http://schemas.openxmlformats.org/drawingml/2006/table">
            <a:tbl>
              <a:tblPr firstRow="1" bandRow="1">
                <a:tableStyleId>{5C22544A-7EE6-4342-B048-85BDC9FD1C3A}</a:tableStyleId>
              </a:tblPr>
              <a:tblGrid>
                <a:gridCol w="2920999">
                  <a:extLst>
                    <a:ext uri="{9D8B030D-6E8A-4147-A177-3AD203B41FA5}">
                      <a16:colId xmlns:a16="http://schemas.microsoft.com/office/drawing/2014/main" val="3144508012"/>
                    </a:ext>
                  </a:extLst>
                </a:gridCol>
                <a:gridCol w="8686800">
                  <a:extLst>
                    <a:ext uri="{9D8B030D-6E8A-4147-A177-3AD203B41FA5}">
                      <a16:colId xmlns:a16="http://schemas.microsoft.com/office/drawing/2014/main" val="2858299335"/>
                    </a:ext>
                  </a:extLst>
                </a:gridCol>
              </a:tblGrid>
              <a:tr h="517178">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232033">
                <a:tc>
                  <a:txBody>
                    <a:bodyPr/>
                    <a:lstStyle/>
                    <a:p>
                      <a:pPr lvl="0" algn="l">
                        <a:buNone/>
                      </a:pPr>
                      <a:r>
                        <a:rPr lang="en-US" sz="2400" b="1" i="0" u="none" strike="noStrike" baseline="0" noProof="0" dirty="0">
                          <a:solidFill>
                            <a:srgbClr val="000000"/>
                          </a:solidFill>
                          <a:latin typeface="Aptos Display"/>
                        </a:rPr>
                        <a:t>       Billing Desk</a:t>
                      </a:r>
                      <a:endParaRPr lang="en-US" dirty="0"/>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Validate treatment codes and types prior to billing</a:t>
                      </a:r>
                      <a:endParaRPr lang="en-US" dirty="0"/>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Generate accurate bills based on all treatments, investigations, and medicines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Process payments via cash, credit, insurance claims, or other modes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Manage billing disputes and queries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Generate financial reports and audit trails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Ensure compliance with regulatory and insurance requirements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Coordinate with patients and insurance providers for claims processing</a:t>
                      </a:r>
                      <a:endParaRPr lang="en-US"/>
                    </a:p>
                  </a:txBody>
                  <a:tcPr anchor="ctr">
                    <a:solidFill>
                      <a:schemeClr val="bg1">
                        <a:lumMod val="95000"/>
                      </a:schemeClr>
                    </a:solidFill>
                  </a:tcPr>
                </a:tc>
                <a:extLst>
                  <a:ext uri="{0D108BD9-81ED-4DB2-BD59-A6C34878D82A}">
                    <a16:rowId xmlns:a16="http://schemas.microsoft.com/office/drawing/2014/main" val="2392717345"/>
                  </a:ext>
                </a:extLst>
              </a:tr>
              <a:tr h="449129">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1500176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B75A6-0513-B471-17D4-D85DF1C67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A827E-D9D5-7192-3168-D6690E3E3C5D}"/>
              </a:ext>
            </a:extLst>
          </p:cNvPr>
          <p:cNvSpPr>
            <a:spLocks noGrp="1"/>
          </p:cNvSpPr>
          <p:nvPr>
            <p:ph type="ctrTitle"/>
          </p:nvPr>
        </p:nvSpPr>
        <p:spPr>
          <a:xfrm>
            <a:off x="223520" y="75647"/>
            <a:ext cx="5212080" cy="741680"/>
          </a:xfrm>
        </p:spPr>
        <p:txBody>
          <a:bodyPr vert="horz" lIns="91440" tIns="45720" rIns="91440" bIns="45720" rtlCol="0" anchor="ctr">
            <a:noAutofit/>
          </a:bodyPr>
          <a:lstStyle/>
          <a:p>
            <a:pPr algn="l"/>
            <a:r>
              <a:rPr lang="en-US" sz="3600" b="1" dirty="0"/>
              <a:t>Key Functionalities</a:t>
            </a:r>
            <a:endParaRPr lang="en-US" sz="3600" dirty="0"/>
          </a:p>
        </p:txBody>
      </p:sp>
      <p:pic>
        <p:nvPicPr>
          <p:cNvPr id="4" name="Picture 3" descr="Logo&#10;&#10;Description automatically generated">
            <a:extLst>
              <a:ext uri="{FF2B5EF4-FFF2-40B4-BE49-F238E27FC236}">
                <a16:creationId xmlns:a16="http://schemas.microsoft.com/office/drawing/2014/main" id="{932668E5-7651-4A79-0E08-B8026B18E8E8}"/>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CF9E372A-0116-3F03-0EAD-75AC2B34F394}"/>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ADBC3816-2E45-9C32-C7E6-DED082CF7685}"/>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AB5D774C-ECBC-AB7B-3320-8A1E231CF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D0CBF496-A24B-D6B9-3E84-98BCB3FFCF0D}"/>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4D7C936C-FAFC-C579-7387-6A0AED4D8FE0}"/>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0B2B86F3-C754-0EF6-FE2F-28F93DD5E169}"/>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E5D1C64B-AEFC-108F-06E5-222E141C7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E0C360BF-CD73-CBE3-0582-73301F9DC20D}"/>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
        <p:nvSpPr>
          <p:cNvPr id="3" name="TextBox 2">
            <a:extLst>
              <a:ext uri="{FF2B5EF4-FFF2-40B4-BE49-F238E27FC236}">
                <a16:creationId xmlns:a16="http://schemas.microsoft.com/office/drawing/2014/main" id="{51C2CD5D-4A46-7BFA-7BA7-9843310D3D4A}"/>
              </a:ext>
            </a:extLst>
          </p:cNvPr>
          <p:cNvSpPr txBox="1"/>
          <p:nvPr/>
        </p:nvSpPr>
        <p:spPr>
          <a:xfrm>
            <a:off x="347331" y="914400"/>
            <a:ext cx="113289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Automated Admission &amp; Room Management</a:t>
            </a:r>
            <a:endParaRPr lang="en-US" b="1"/>
          </a:p>
          <a:p>
            <a:endParaRPr lang="en-US" dirty="0">
              <a:ea typeface="+mn-lt"/>
              <a:cs typeface="+mn-lt"/>
            </a:endParaRPr>
          </a:p>
          <a:p>
            <a:pPr>
              <a:buFont typeface="Arial"/>
            </a:pPr>
            <a:r>
              <a:rPr lang="en-US" dirty="0">
                <a:ea typeface="+mn-lt"/>
                <a:cs typeface="+mn-lt"/>
              </a:rPr>
              <a:t>          Patients can view real-time room availability, book rooms, or request transfers via an online system. </a:t>
            </a:r>
            <a:endParaRPr lang="en-US" b="1" dirty="0">
              <a:ea typeface="+mn-lt"/>
              <a:cs typeface="+mn-lt"/>
            </a:endParaRPr>
          </a:p>
          <a:p>
            <a:pPr lvl="1"/>
            <a:r>
              <a:rPr lang="en-US" dirty="0">
                <a:ea typeface="+mn-lt"/>
                <a:cs typeface="+mn-lt"/>
              </a:rPr>
              <a:t>Hospital admins review and approve these requests with instant notifications.</a:t>
            </a:r>
          </a:p>
          <a:p>
            <a:pPr lvl="1"/>
            <a:endParaRPr lang="en-US" dirty="0"/>
          </a:p>
        </p:txBody>
      </p:sp>
      <p:sp>
        <p:nvSpPr>
          <p:cNvPr id="14" name="TextBox 13">
            <a:extLst>
              <a:ext uri="{FF2B5EF4-FFF2-40B4-BE49-F238E27FC236}">
                <a16:creationId xmlns:a16="http://schemas.microsoft.com/office/drawing/2014/main" id="{B62BB19D-8FFA-462E-BDA5-223087D66C86}"/>
              </a:ext>
            </a:extLst>
          </p:cNvPr>
          <p:cNvSpPr txBox="1"/>
          <p:nvPr/>
        </p:nvSpPr>
        <p:spPr>
          <a:xfrm>
            <a:off x="347332" y="2030819"/>
            <a:ext cx="1108089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Streamlined Discharge Processing</a:t>
            </a:r>
            <a:endParaRPr lang="en-US" b="1" dirty="0"/>
          </a:p>
          <a:p>
            <a:r>
              <a:rPr lang="en-US" b="1" dirty="0"/>
              <a:t>         </a:t>
            </a:r>
            <a:endParaRPr lang="en-US" dirty="0">
              <a:ea typeface="+mn-lt"/>
              <a:cs typeface="+mn-lt"/>
            </a:endParaRPr>
          </a:p>
          <a:p>
            <a:endParaRPr lang="en-US"/>
          </a:p>
          <a:p>
            <a:endParaRPr lang="en-US"/>
          </a:p>
        </p:txBody>
      </p:sp>
      <p:sp>
        <p:nvSpPr>
          <p:cNvPr id="15" name="TextBox 14">
            <a:extLst>
              <a:ext uri="{FF2B5EF4-FFF2-40B4-BE49-F238E27FC236}">
                <a16:creationId xmlns:a16="http://schemas.microsoft.com/office/drawing/2014/main" id="{D31B1F6F-3931-F029-30CF-80FBA51110C4}"/>
              </a:ext>
            </a:extLst>
          </p:cNvPr>
          <p:cNvSpPr txBox="1"/>
          <p:nvPr/>
        </p:nvSpPr>
        <p:spPr>
          <a:xfrm>
            <a:off x="347331" y="3244702"/>
            <a:ext cx="110808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a:t>
            </a:r>
          </a:p>
          <a:p>
            <a:pPr marL="285750" indent="-285750">
              <a:buFont typeface="Arial"/>
              <a:buChar char="•"/>
            </a:pPr>
            <a:r>
              <a:rPr lang="en-US" b="1" dirty="0">
                <a:ea typeface="+mn-lt"/>
                <a:cs typeface="+mn-lt"/>
              </a:rPr>
              <a:t>Cashless Insurance Claim Workflow</a:t>
            </a:r>
          </a:p>
        </p:txBody>
      </p:sp>
      <p:sp>
        <p:nvSpPr>
          <p:cNvPr id="16" name="TextBox 15">
            <a:extLst>
              <a:ext uri="{FF2B5EF4-FFF2-40B4-BE49-F238E27FC236}">
                <a16:creationId xmlns:a16="http://schemas.microsoft.com/office/drawing/2014/main" id="{6D7DF6F2-F85B-11A9-E774-4F2CD824CD67}"/>
              </a:ext>
            </a:extLst>
          </p:cNvPr>
          <p:cNvSpPr txBox="1"/>
          <p:nvPr/>
        </p:nvSpPr>
        <p:spPr>
          <a:xfrm>
            <a:off x="781493" y="3891515"/>
            <a:ext cx="107885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system manages end-to-end insurance clearance for cashless treatment — including claim submission by hospitals, verification by insurers, and status tracking by patients.</a:t>
            </a:r>
          </a:p>
        </p:txBody>
      </p:sp>
      <p:sp>
        <p:nvSpPr>
          <p:cNvPr id="17" name="TextBox 16">
            <a:extLst>
              <a:ext uri="{FF2B5EF4-FFF2-40B4-BE49-F238E27FC236}">
                <a16:creationId xmlns:a16="http://schemas.microsoft.com/office/drawing/2014/main" id="{51250A5A-5956-91F1-1017-F37063493C5F}"/>
              </a:ext>
            </a:extLst>
          </p:cNvPr>
          <p:cNvSpPr txBox="1"/>
          <p:nvPr/>
        </p:nvSpPr>
        <p:spPr>
          <a:xfrm>
            <a:off x="781494" y="2645598"/>
            <a:ext cx="106467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Hospital staff generate discharge details automatically, coordinate with administrative teams, and notify patients promptly to improve transparency and reduce delays.</a:t>
            </a:r>
          </a:p>
        </p:txBody>
      </p:sp>
      <p:sp>
        <p:nvSpPr>
          <p:cNvPr id="18" name="TextBox 17">
            <a:extLst>
              <a:ext uri="{FF2B5EF4-FFF2-40B4-BE49-F238E27FC236}">
                <a16:creationId xmlns:a16="http://schemas.microsoft.com/office/drawing/2014/main" id="{0E6D435D-D436-FFFA-83F7-B0EC15DE2788}"/>
              </a:ext>
            </a:extLst>
          </p:cNvPr>
          <p:cNvSpPr txBox="1"/>
          <p:nvPr/>
        </p:nvSpPr>
        <p:spPr>
          <a:xfrm>
            <a:off x="347330" y="4548099"/>
            <a:ext cx="60431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Centralized Communication &amp; Request Tracking</a:t>
            </a:r>
            <a:endParaRPr lang="en-US" b="1"/>
          </a:p>
        </p:txBody>
      </p:sp>
      <p:sp>
        <p:nvSpPr>
          <p:cNvPr id="19" name="TextBox 18">
            <a:extLst>
              <a:ext uri="{FF2B5EF4-FFF2-40B4-BE49-F238E27FC236}">
                <a16:creationId xmlns:a16="http://schemas.microsoft.com/office/drawing/2014/main" id="{BB9E8CC3-94F0-83C2-95E6-5C0AC895C33B}"/>
              </a:ext>
            </a:extLst>
          </p:cNvPr>
          <p:cNvSpPr txBox="1"/>
          <p:nvPr/>
        </p:nvSpPr>
        <p:spPr>
          <a:xfrm>
            <a:off x="790355" y="4910469"/>
            <a:ext cx="1066445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All stakeholders—patients, hospital staff, insurers, and administrators—can track request statuses, communicate updates, and respond to queries within a unified platform.</a:t>
            </a:r>
            <a:endParaRPr lang="en-US" dirty="0"/>
          </a:p>
          <a:p>
            <a:br>
              <a:rPr lang="en-US" dirty="0"/>
            </a:br>
            <a:endParaRPr lang="en-US" dirty="0"/>
          </a:p>
          <a:p>
            <a:endParaRPr lang="en-US" dirty="0"/>
          </a:p>
        </p:txBody>
      </p:sp>
    </p:spTree>
    <p:extLst>
      <p:ext uri="{BB962C8B-B14F-4D97-AF65-F5344CB8AC3E}">
        <p14:creationId xmlns:p14="http://schemas.microsoft.com/office/powerpoint/2010/main" val="387017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3B98E-D7EA-A7C9-B1BF-6CD399AEB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B8CD6-5EE2-FE57-CBF4-9911E3DF296C}"/>
              </a:ext>
            </a:extLst>
          </p:cNvPr>
          <p:cNvSpPr>
            <a:spLocks noGrp="1"/>
          </p:cNvSpPr>
          <p:nvPr>
            <p:ph type="ctrTitle"/>
          </p:nvPr>
        </p:nvSpPr>
        <p:spPr>
          <a:xfrm>
            <a:off x="223520" y="199693"/>
            <a:ext cx="5232400" cy="741680"/>
          </a:xfrm>
        </p:spPr>
        <p:txBody>
          <a:bodyPr vert="horz" lIns="91440" tIns="45720" rIns="91440" bIns="45720" rtlCol="0" anchor="ctr">
            <a:noAutofit/>
          </a:bodyPr>
          <a:lstStyle/>
          <a:p>
            <a:r>
              <a:rPr lang="en-US" sz="3600" b="1" dirty="0"/>
              <a:t>System Architecture</a:t>
            </a:r>
            <a:endParaRPr lang="en-US" sz="3600" dirty="0"/>
          </a:p>
        </p:txBody>
      </p:sp>
      <p:sp>
        <p:nvSpPr>
          <p:cNvPr id="3" name="Subtitle 2">
            <a:extLst>
              <a:ext uri="{FF2B5EF4-FFF2-40B4-BE49-F238E27FC236}">
                <a16:creationId xmlns:a16="http://schemas.microsoft.com/office/drawing/2014/main" id="{0E8E2582-3DB8-C3EA-3517-451FFAE2CDA7}"/>
              </a:ext>
            </a:extLst>
          </p:cNvPr>
          <p:cNvSpPr>
            <a:spLocks noGrp="1"/>
          </p:cNvSpPr>
          <p:nvPr>
            <p:ph type="subTitle" idx="1"/>
          </p:nvPr>
        </p:nvSpPr>
        <p:spPr>
          <a:xfrm>
            <a:off x="221703" y="1291347"/>
            <a:ext cx="11724640" cy="4896802"/>
          </a:xfrm>
        </p:spPr>
        <p:txBody>
          <a:bodyPr vert="horz" lIns="91440" tIns="45720" rIns="91440" bIns="45720" rtlCol="0" anchor="ctr">
            <a:normAutofit lnSpcReduction="10000"/>
          </a:bodyPr>
          <a:lstStyle/>
          <a:p>
            <a:pPr marL="342900" indent="-342900" algn="l">
              <a:buFont typeface="Arial"/>
              <a:buChar char="•"/>
            </a:pPr>
            <a:endParaRPr lang="en-US" b="1" dirty="0">
              <a:ea typeface="+mn-lt"/>
              <a:cs typeface="+mn-lt"/>
            </a:endParaRPr>
          </a:p>
          <a:p>
            <a:pPr marL="342900" indent="-342900" algn="l">
              <a:buFont typeface="Arial"/>
              <a:buChar char="•"/>
            </a:pPr>
            <a:endParaRPr lang="en-US" b="1" dirty="0">
              <a:ea typeface="+mn-lt"/>
              <a:cs typeface="+mn-lt"/>
            </a:endParaRPr>
          </a:p>
          <a:p>
            <a:pPr marL="342900" indent="-342900" algn="l">
              <a:buFont typeface="Arial"/>
              <a:buChar char="•"/>
            </a:pPr>
            <a:r>
              <a:rPr lang="en-US" b="1" dirty="0">
                <a:ea typeface="+mn-lt"/>
                <a:cs typeface="+mn-lt"/>
              </a:rPr>
              <a:t>Database (MongoDB):</a:t>
            </a:r>
            <a:br>
              <a:rPr lang="en-US" sz="1200" dirty="0">
                <a:ea typeface="+mn-lt"/>
                <a:cs typeface="+mn-lt"/>
              </a:rPr>
            </a:br>
            <a:r>
              <a:rPr lang="en-US" sz="2000" dirty="0">
                <a:ea typeface="+mn-lt"/>
                <a:cs typeface="+mn-lt"/>
              </a:rPr>
              <a:t>Stores all users (admins, insurers, customers), covers, hospitals, policies, </a:t>
            </a:r>
            <a:r>
              <a:rPr lang="en-US" sz="2000" dirty="0" err="1">
                <a:ea typeface="+mn-lt"/>
                <a:cs typeface="+mn-lt"/>
              </a:rPr>
              <a:t>bookRoom</a:t>
            </a:r>
            <a:r>
              <a:rPr lang="en-US" sz="2000" dirty="0">
                <a:ea typeface="+mn-lt"/>
                <a:cs typeface="+mn-lt"/>
              </a:rPr>
              <a:t>,  </a:t>
            </a:r>
            <a:r>
              <a:rPr lang="en-US" sz="2000" dirty="0" err="1">
                <a:ea typeface="+mn-lt"/>
                <a:cs typeface="+mn-lt"/>
              </a:rPr>
              <a:t>hospitalClaims</a:t>
            </a:r>
            <a:r>
              <a:rPr lang="en-US" sz="2000" dirty="0">
                <a:ea typeface="+mn-lt"/>
                <a:cs typeface="+mn-lt"/>
              </a:rPr>
              <a:t>, </a:t>
            </a:r>
            <a:r>
              <a:rPr lang="en-US" sz="2000" dirty="0" err="1">
                <a:ea typeface="+mn-lt"/>
                <a:cs typeface="+mn-lt"/>
              </a:rPr>
              <a:t>hospitalClaimQueries</a:t>
            </a:r>
            <a:r>
              <a:rPr lang="en-US" sz="2000" dirty="0">
                <a:ea typeface="+mn-lt"/>
                <a:cs typeface="+mn-lt"/>
              </a:rPr>
              <a:t>, notifications, room and </a:t>
            </a:r>
            <a:r>
              <a:rPr lang="en-US" sz="2000" dirty="0" err="1">
                <a:ea typeface="+mn-lt"/>
                <a:cs typeface="+mn-lt"/>
              </a:rPr>
              <a:t>roomTransfer</a:t>
            </a:r>
            <a:endParaRPr lang="en-US" sz="2000" dirty="0">
              <a:ea typeface="+mn-lt"/>
              <a:cs typeface="+mn-lt"/>
            </a:endParaRPr>
          </a:p>
          <a:p>
            <a:pPr marL="285750" indent="-285750" algn="l">
              <a:buFont typeface="Arial"/>
              <a:buChar char="•"/>
            </a:pPr>
            <a:r>
              <a:rPr lang="en-US" b="1" dirty="0">
                <a:ea typeface="+mn-lt"/>
                <a:cs typeface="+mn-lt"/>
              </a:rPr>
              <a:t>Backend (Spring Boot Microservices): </a:t>
            </a:r>
            <a:endParaRPr lang="en-US" sz="2500" dirty="0">
              <a:ea typeface="+mn-lt"/>
              <a:cs typeface="+mn-lt"/>
            </a:endParaRPr>
          </a:p>
          <a:p>
            <a:pPr algn="l"/>
            <a:r>
              <a:rPr lang="en-US" sz="2000" dirty="0">
                <a:ea typeface="+mn-lt"/>
                <a:cs typeface="+mn-lt"/>
              </a:rPr>
              <a:t>      REST APIs to manage data.</a:t>
            </a:r>
            <a:endParaRPr lang="en-US" sz="2000" dirty="0"/>
          </a:p>
          <a:p>
            <a:pPr algn="l">
              <a:buFont typeface="Arial"/>
              <a:buChar char="•"/>
            </a:pPr>
            <a:r>
              <a:rPr lang="en-US" dirty="0">
                <a:ea typeface="+mn-lt"/>
                <a:cs typeface="+mn-lt"/>
              </a:rPr>
              <a:t>   </a:t>
            </a:r>
            <a:r>
              <a:rPr lang="en-US" b="1" dirty="0">
                <a:ea typeface="+mn-lt"/>
                <a:cs typeface="+mn-lt"/>
              </a:rPr>
              <a:t>Frontend (React + MUI):</a:t>
            </a:r>
            <a:endParaRPr lang="en-US" b="1" dirty="0">
              <a:latin typeface="Aptos"/>
              <a:cs typeface="Times New Roman"/>
            </a:endParaRPr>
          </a:p>
          <a:p>
            <a:pPr algn="l"/>
            <a:r>
              <a:rPr lang="en-US" dirty="0"/>
              <a:t>   </a:t>
            </a:r>
            <a:r>
              <a:rPr lang="en-US" sz="2000" dirty="0"/>
              <a:t> </a:t>
            </a:r>
            <a:r>
              <a:rPr lang="en-US" sz="2000" dirty="0">
                <a:ea typeface="+mn-lt"/>
                <a:cs typeface="+mn-lt"/>
              </a:rPr>
              <a:t> Responsive user interface for booking, transfer, notifications, docs upload, and Track Status.</a:t>
            </a:r>
            <a:endParaRPr lang="en-US" sz="2000" dirty="0"/>
          </a:p>
          <a:p>
            <a:pPr algn="l"/>
            <a:r>
              <a:rPr lang="en-US" sz="2000" dirty="0">
                <a:ea typeface="+mn-lt"/>
                <a:cs typeface="+mn-lt"/>
              </a:rPr>
              <a:t>     Patient, insurance, and hospital admin dashboards for management tasks.</a:t>
            </a:r>
            <a:endParaRPr lang="en-US" sz="2000" dirty="0"/>
          </a:p>
          <a:p>
            <a:pPr algn="l"/>
            <a:r>
              <a:rPr lang="en-US" sz="2000" dirty="0">
                <a:ea typeface="+mn-lt"/>
                <a:cs typeface="+mn-lt"/>
              </a:rPr>
              <a:t>    </a:t>
            </a:r>
            <a:endParaRPr lang="en-US" sz="2000" dirty="0"/>
          </a:p>
          <a:p>
            <a:pPr algn="l"/>
            <a:br>
              <a:rPr lang="en-US" dirty="0"/>
            </a:br>
            <a:endParaRPr lang="en-US"/>
          </a:p>
          <a:p>
            <a:pPr marL="285750" indent="-285750" algn="l">
              <a:buFont typeface="Arial"/>
              <a:buChar char="•"/>
            </a:pPr>
            <a:endParaRPr lang="en-US" sz="2500">
              <a:cs typeface="Times New Roman"/>
            </a:endParaRPr>
          </a:p>
          <a:p>
            <a:endParaRPr lang="en-US" sz="2500">
              <a:cs typeface="Times New Roman"/>
            </a:endParaRPr>
          </a:p>
        </p:txBody>
      </p:sp>
      <p:pic>
        <p:nvPicPr>
          <p:cNvPr id="4" name="Picture 3" descr="Logo&#10;&#10;Description automatically generated">
            <a:extLst>
              <a:ext uri="{FF2B5EF4-FFF2-40B4-BE49-F238E27FC236}">
                <a16:creationId xmlns:a16="http://schemas.microsoft.com/office/drawing/2014/main" id="{12F83ABA-FA62-EF1B-9B03-497B023A754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47F22D2-6CA9-74C9-2C40-0F498D54C0F8}"/>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B52DCA4E-A905-905A-476A-739C99346ECE}"/>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4860E245-B969-53EC-A0C2-5EB813C16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39EE0DC9-36AF-6C3B-6618-9895445C80C5}"/>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D139F375-334D-5D55-8FE8-8B338309D41B}"/>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F23764AB-E01B-CCCF-D895-79280E64B5A4}"/>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44066A44-B985-2BC8-3447-FACDFB054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293B368B-F0E4-0F43-989C-CB3EEE26D1F8}"/>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242659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77C2-B6C4-59AD-37FD-183242C00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417B2-463E-0A03-15F9-B1D6E51EA910}"/>
              </a:ext>
            </a:extLst>
          </p:cNvPr>
          <p:cNvSpPr>
            <a:spLocks noGrp="1"/>
          </p:cNvSpPr>
          <p:nvPr>
            <p:ph type="ctrTitle"/>
          </p:nvPr>
        </p:nvSpPr>
        <p:spPr>
          <a:xfrm>
            <a:off x="223520" y="4763"/>
            <a:ext cx="4785360" cy="741680"/>
          </a:xfrm>
        </p:spPr>
        <p:txBody>
          <a:bodyPr vert="horz" lIns="91440" tIns="45720" rIns="91440" bIns="45720" rtlCol="0" anchor="ctr">
            <a:noAutofit/>
          </a:bodyPr>
          <a:lstStyle/>
          <a:p>
            <a:r>
              <a:rPr lang="en-US" sz="3600" b="1" dirty="0"/>
              <a:t>Use Case Diagram</a:t>
            </a:r>
          </a:p>
        </p:txBody>
      </p:sp>
      <p:pic>
        <p:nvPicPr>
          <p:cNvPr id="4" name="Picture 3" descr="Logo&#10;&#10;Description automatically generated">
            <a:extLst>
              <a:ext uri="{FF2B5EF4-FFF2-40B4-BE49-F238E27FC236}">
                <a16:creationId xmlns:a16="http://schemas.microsoft.com/office/drawing/2014/main" id="{3DE3D21D-E925-F5FE-1F5C-C37066C1FF48}"/>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9FD8D65-DD5D-E4AA-F5B0-26DF6ADF4BAA}"/>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172D620E-0B6B-5DB7-9882-0B4CF5E1262F}"/>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CD0011FD-FF91-17E6-69F6-2528A58EC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009E658-A6CE-E6D0-E591-4D917CF63F06}"/>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1DC44DE0-A39B-0187-1093-A96ED7CD7D4E}"/>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5F6993B3-45BC-5A8F-A368-E06D4FC16B7B}"/>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064E818B-D2FD-EF52-85C2-DC03CD641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05D1878-54C8-5257-2F2C-E4FA4DD67085}"/>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pic>
        <p:nvPicPr>
          <p:cNvPr id="13" name="Picture 12" descr="A diagram of a diagram&#10;&#10;AI-generated content may be incorrect.">
            <a:extLst>
              <a:ext uri="{FF2B5EF4-FFF2-40B4-BE49-F238E27FC236}">
                <a16:creationId xmlns:a16="http://schemas.microsoft.com/office/drawing/2014/main" id="{5230EC98-2A5F-D81A-88C6-FDDC8C65E8D6}"/>
              </a:ext>
            </a:extLst>
          </p:cNvPr>
          <p:cNvPicPr>
            <a:picLocks noChangeAspect="1"/>
          </p:cNvPicPr>
          <p:nvPr/>
        </p:nvPicPr>
        <p:blipFill>
          <a:blip r:embed="rId4"/>
          <a:stretch>
            <a:fillRect/>
          </a:stretch>
        </p:blipFill>
        <p:spPr>
          <a:xfrm>
            <a:off x="765467" y="671762"/>
            <a:ext cx="8956592" cy="5514475"/>
          </a:xfrm>
          <a:prstGeom prst="rect">
            <a:avLst/>
          </a:prstGeom>
        </p:spPr>
      </p:pic>
    </p:spTree>
    <p:extLst>
      <p:ext uri="{BB962C8B-B14F-4D97-AF65-F5344CB8AC3E}">
        <p14:creationId xmlns:p14="http://schemas.microsoft.com/office/powerpoint/2010/main" val="3220541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E110-43D2-D8A4-5EB2-51708B0D0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83F56-0EF5-7FC0-71BC-9C9A87DFC4B5}"/>
              </a:ext>
            </a:extLst>
          </p:cNvPr>
          <p:cNvSpPr>
            <a:spLocks noGrp="1"/>
          </p:cNvSpPr>
          <p:nvPr>
            <p:ph type="ctrTitle"/>
          </p:nvPr>
        </p:nvSpPr>
        <p:spPr>
          <a:xfrm>
            <a:off x="222250" y="530"/>
            <a:ext cx="3676873" cy="648591"/>
          </a:xfrm>
        </p:spPr>
        <p:txBody>
          <a:bodyPr vert="horz" lIns="91440" tIns="45720" rIns="91440" bIns="45720" rtlCol="0" anchor="ctr">
            <a:noAutofit/>
          </a:bodyPr>
          <a:lstStyle/>
          <a:p>
            <a:r>
              <a:rPr lang="en-US" sz="3600" b="1" dirty="0"/>
              <a:t>DB Diagram</a:t>
            </a:r>
          </a:p>
        </p:txBody>
      </p:sp>
      <p:pic>
        <p:nvPicPr>
          <p:cNvPr id="4" name="Picture 3" descr="Logo&#10;&#10;Description automatically generated">
            <a:extLst>
              <a:ext uri="{FF2B5EF4-FFF2-40B4-BE49-F238E27FC236}">
                <a16:creationId xmlns:a16="http://schemas.microsoft.com/office/drawing/2014/main" id="{F3F90C0D-9D0C-B6AF-3C7F-0053893A4CD2}"/>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C66C90DF-5544-797F-F142-D5001D1BD9AC}"/>
              </a:ext>
            </a:extLst>
          </p:cNvPr>
          <p:cNvGrpSpPr/>
          <p:nvPr/>
        </p:nvGrpSpPr>
        <p:grpSpPr>
          <a:xfrm>
            <a:off x="225730" y="6175723"/>
            <a:ext cx="11731301" cy="508643"/>
            <a:chOff x="632130" y="7111853"/>
            <a:chExt cx="11691611" cy="654546"/>
          </a:xfrm>
        </p:grpSpPr>
        <p:grpSp>
          <p:nvGrpSpPr>
            <p:cNvPr id="6" name="Group 5">
              <a:extLst>
                <a:ext uri="{FF2B5EF4-FFF2-40B4-BE49-F238E27FC236}">
                  <a16:creationId xmlns:a16="http://schemas.microsoft.com/office/drawing/2014/main" id="{B53D648C-A275-C332-C8D3-426D8EBDAE28}"/>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657E81E1-8E26-F3AC-D15B-90DC892C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5FEDA84D-75C2-3D03-5A02-81F813299230}"/>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4AB6518E-3F9C-EF29-D55F-1D99BD5A2AFD}"/>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39F68A73-241A-3136-FF34-C8B2C253929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852AFA52-AAFC-153C-3C9B-81000C62E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CA9126AD-992F-1C90-28D1-E2D6D98FEE5D}"/>
                </a:ext>
              </a:extLst>
            </p:cNvPr>
            <p:cNvSpPr txBox="1"/>
            <p:nvPr/>
          </p:nvSpPr>
          <p:spPr>
            <a:xfrm>
              <a:off x="9389075" y="7111853"/>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pic>
        <p:nvPicPr>
          <p:cNvPr id="3" name="Picture 2" descr="A screenshot of a computer&#10;&#10;AI-generated content may be incorrect.">
            <a:extLst>
              <a:ext uri="{FF2B5EF4-FFF2-40B4-BE49-F238E27FC236}">
                <a16:creationId xmlns:a16="http://schemas.microsoft.com/office/drawing/2014/main" id="{479DAD18-2B62-D525-C5D6-DBF54C3AA5EE}"/>
              </a:ext>
            </a:extLst>
          </p:cNvPr>
          <p:cNvPicPr>
            <a:picLocks noChangeAspect="1"/>
          </p:cNvPicPr>
          <p:nvPr/>
        </p:nvPicPr>
        <p:blipFill>
          <a:blip r:embed="rId4"/>
          <a:stretch>
            <a:fillRect/>
          </a:stretch>
        </p:blipFill>
        <p:spPr>
          <a:xfrm>
            <a:off x="256879" y="1022684"/>
            <a:ext cx="11598030" cy="4942974"/>
          </a:xfrm>
          <a:prstGeom prst="rect">
            <a:avLst/>
          </a:prstGeom>
        </p:spPr>
      </p:pic>
    </p:spTree>
    <p:extLst>
      <p:ext uri="{BB962C8B-B14F-4D97-AF65-F5344CB8AC3E}">
        <p14:creationId xmlns:p14="http://schemas.microsoft.com/office/powerpoint/2010/main" val="148028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F154-8629-63B8-CF3D-A44678F9636B}"/>
              </a:ext>
            </a:extLst>
          </p:cNvPr>
          <p:cNvSpPr>
            <a:spLocks noGrp="1"/>
          </p:cNvSpPr>
          <p:nvPr>
            <p:ph type="title"/>
          </p:nvPr>
        </p:nvSpPr>
        <p:spPr/>
        <p:txBody>
          <a:bodyPr/>
          <a:lstStyle/>
          <a:p>
            <a:r>
              <a:rPr lang="en-US"/>
              <a:t>Documents</a:t>
            </a:r>
          </a:p>
        </p:txBody>
      </p:sp>
      <p:sp>
        <p:nvSpPr>
          <p:cNvPr id="3" name="Content Placeholder 2">
            <a:extLst>
              <a:ext uri="{FF2B5EF4-FFF2-40B4-BE49-F238E27FC236}">
                <a16:creationId xmlns:a16="http://schemas.microsoft.com/office/drawing/2014/main" id="{9629DF7A-F6A5-3002-3C5D-51DA2752E183}"/>
              </a:ext>
            </a:extLst>
          </p:cNvPr>
          <p:cNvSpPr>
            <a:spLocks noGrp="1"/>
          </p:cNvSpPr>
          <p:nvPr>
            <p:ph idx="1"/>
          </p:nvPr>
        </p:nvSpPr>
        <p:spPr/>
        <p:txBody>
          <a:bodyPr vert="horz" lIns="91440" tIns="45720" rIns="91440" bIns="45720" rtlCol="0" anchor="t">
            <a:normAutofit/>
          </a:bodyPr>
          <a:lstStyle/>
          <a:p>
            <a:r>
              <a:rPr lang="en-US" dirty="0">
                <a:hlinkClick r:id="rId2"/>
              </a:rPr>
              <a:t>SRS</a:t>
            </a:r>
          </a:p>
          <a:p>
            <a:r>
              <a:rPr lang="en-US" dirty="0">
                <a:hlinkClick r:id="rId3"/>
              </a:rPr>
              <a:t>HLD</a:t>
            </a:r>
          </a:p>
          <a:p>
            <a:r>
              <a:rPr lang="en-US" dirty="0">
                <a:hlinkClick r:id="rId4"/>
              </a:rPr>
              <a:t>LLD</a:t>
            </a:r>
          </a:p>
          <a:p>
            <a:r>
              <a:rPr lang="en-US" dirty="0">
                <a:hlinkClick r:id="rId5"/>
              </a:rPr>
              <a:t>QSC</a:t>
            </a:r>
          </a:p>
          <a:p>
            <a:r>
              <a:rPr lang="en-US" dirty="0">
                <a:hlinkClick r:id="rId6"/>
              </a:rPr>
              <a:t>Test Reports</a:t>
            </a:r>
          </a:p>
          <a:p>
            <a:pPr marL="0" indent="0">
              <a:buNone/>
            </a:pPr>
            <a:endParaRPr lang="en-US" dirty="0"/>
          </a:p>
        </p:txBody>
      </p:sp>
      <p:pic>
        <p:nvPicPr>
          <p:cNvPr id="5" name="Picture 4" descr="Logo&#10;&#10;Description automatically generated">
            <a:extLst>
              <a:ext uri="{FF2B5EF4-FFF2-40B4-BE49-F238E27FC236}">
                <a16:creationId xmlns:a16="http://schemas.microsoft.com/office/drawing/2014/main" id="{5DF03A35-584D-FA15-7BF1-A52B2B3130F1}"/>
              </a:ext>
            </a:extLst>
          </p:cNvPr>
          <p:cNvPicPr>
            <a:picLocks noChangeAspect="1"/>
          </p:cNvPicPr>
          <p:nvPr/>
        </p:nvPicPr>
        <p:blipFill>
          <a:blip r:embed="rId7"/>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36A07273-82EC-5B3B-8BFC-68BA4D8BED48}"/>
              </a:ext>
            </a:extLst>
          </p:cNvPr>
          <p:cNvGrpSpPr/>
          <p:nvPr/>
        </p:nvGrpSpPr>
        <p:grpSpPr>
          <a:xfrm>
            <a:off x="225730" y="6192199"/>
            <a:ext cx="11731301" cy="492167"/>
            <a:chOff x="632130" y="7133055"/>
            <a:chExt cx="11691611" cy="633344"/>
          </a:xfrm>
        </p:grpSpPr>
        <p:grpSp>
          <p:nvGrpSpPr>
            <p:cNvPr id="7" name="Group 6">
              <a:extLst>
                <a:ext uri="{FF2B5EF4-FFF2-40B4-BE49-F238E27FC236}">
                  <a16:creationId xmlns:a16="http://schemas.microsoft.com/office/drawing/2014/main" id="{855EED82-0A70-B021-8C14-A5744C830EEE}"/>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56520A0C-B5C8-F08B-8619-DBCC0209C9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6A9B3804-40AC-A98C-B166-698AD0685AED}"/>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5E08F691-593C-9C6C-DDDF-688CD28D5FD9}"/>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FA7644C4-1A4F-352C-38EE-C0BBBA247AEA}"/>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3F370216-B950-45E4-86D3-6552D30845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766C61B9-6DC8-3B30-D9D7-ECA6B66C57BE}"/>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547896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20EE-DFF3-FF4E-6B9A-D9C9173F3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93862-9262-A4E8-7E29-AA352C79847D}"/>
              </a:ext>
            </a:extLst>
          </p:cNvPr>
          <p:cNvSpPr>
            <a:spLocks noGrp="1"/>
          </p:cNvSpPr>
          <p:nvPr>
            <p:ph type="title"/>
          </p:nvPr>
        </p:nvSpPr>
        <p:spPr/>
        <p:txBody>
          <a:bodyPr/>
          <a:lstStyle/>
          <a:p>
            <a:r>
              <a:rPr lang="en-US"/>
              <a:t>Q/A</a:t>
            </a:r>
          </a:p>
        </p:txBody>
      </p:sp>
      <p:pic>
        <p:nvPicPr>
          <p:cNvPr id="20" name="Content Placeholder 19" descr="Questions and answers qa abbreviated ...">
            <a:extLst>
              <a:ext uri="{FF2B5EF4-FFF2-40B4-BE49-F238E27FC236}">
                <a16:creationId xmlns:a16="http://schemas.microsoft.com/office/drawing/2014/main" id="{7D52D509-CE74-543A-EC6E-75C8CAC7A44D}"/>
              </a:ext>
            </a:extLst>
          </p:cNvPr>
          <p:cNvPicPr>
            <a:picLocks noGrp="1" noChangeAspect="1"/>
          </p:cNvPicPr>
          <p:nvPr>
            <p:ph idx="1"/>
          </p:nvPr>
        </p:nvPicPr>
        <p:blipFill>
          <a:blip r:embed="rId2"/>
          <a:stretch>
            <a:fillRect/>
          </a:stretch>
        </p:blipFill>
        <p:spPr>
          <a:xfrm>
            <a:off x="3047389" y="1820679"/>
            <a:ext cx="5921375" cy="3179151"/>
          </a:xfrm>
          <a:prstGeom prst="rect">
            <a:avLst/>
          </a:prstGeom>
        </p:spPr>
      </p:pic>
      <p:pic>
        <p:nvPicPr>
          <p:cNvPr id="5" name="Picture 4" descr="Logo&#10;&#10;Description automatically generated">
            <a:extLst>
              <a:ext uri="{FF2B5EF4-FFF2-40B4-BE49-F238E27FC236}">
                <a16:creationId xmlns:a16="http://schemas.microsoft.com/office/drawing/2014/main" id="{5540EDEE-AF01-65B6-2C14-2B3D3F4F66FF}"/>
              </a:ext>
            </a:extLst>
          </p:cNvPr>
          <p:cNvPicPr>
            <a:picLocks noChangeAspect="1"/>
          </p:cNvPicPr>
          <p:nvPr/>
        </p:nvPicPr>
        <p:blipFill>
          <a:blip r:embed="rId3"/>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F20573D5-52C5-B569-DDC0-C6582F92E055}"/>
              </a:ext>
            </a:extLst>
          </p:cNvPr>
          <p:cNvGrpSpPr/>
          <p:nvPr/>
        </p:nvGrpSpPr>
        <p:grpSpPr>
          <a:xfrm>
            <a:off x="225730" y="6241621"/>
            <a:ext cx="11731301" cy="442739"/>
            <a:chOff x="632130" y="7196661"/>
            <a:chExt cx="11691611" cy="569738"/>
          </a:xfrm>
        </p:grpSpPr>
        <p:grpSp>
          <p:nvGrpSpPr>
            <p:cNvPr id="7" name="Group 6">
              <a:extLst>
                <a:ext uri="{FF2B5EF4-FFF2-40B4-BE49-F238E27FC236}">
                  <a16:creationId xmlns:a16="http://schemas.microsoft.com/office/drawing/2014/main" id="{F5BDCF08-BA54-7C30-9581-30248510E909}"/>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7A557B8F-8433-BA8E-EA05-0ACDFB878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888ACD43-B2ED-B193-0426-141B45CE1C67}"/>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AD7286C1-309D-C48B-F974-C1798DBD760D}"/>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64494232-F8BA-2706-4607-364EE29E34AC}"/>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89FAD141-8910-2F21-95D6-01E2DF06DF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8E9348C7-65D0-3AAF-94BD-32766059974B}"/>
                </a:ext>
              </a:extLst>
            </p:cNvPr>
            <p:cNvSpPr txBox="1"/>
            <p:nvPr/>
          </p:nvSpPr>
          <p:spPr>
            <a:xfrm>
              <a:off x="9389075" y="7196661"/>
              <a:ext cx="2778325" cy="523220"/>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211975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181A-8214-9CFC-DD31-6A2F9EC7D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29CE9-8037-1D6A-25EE-E9818676F076}"/>
              </a:ext>
            </a:extLst>
          </p:cNvPr>
          <p:cNvSpPr>
            <a:spLocks noGrp="1"/>
          </p:cNvSpPr>
          <p:nvPr>
            <p:ph type="ctrTitle"/>
          </p:nvPr>
        </p:nvSpPr>
        <p:spPr>
          <a:xfrm>
            <a:off x="1524000" y="1853883"/>
            <a:ext cx="9144000" cy="2387600"/>
          </a:xfrm>
        </p:spPr>
        <p:txBody>
          <a:bodyPr vert="horz" lIns="91440" tIns="45720" rIns="91440" bIns="45720" rtlCol="0" anchor="ctr">
            <a:normAutofit/>
          </a:bodyPr>
          <a:lstStyle/>
          <a:p>
            <a:r>
              <a:rPr lang="en-US" b="1"/>
              <a:t>Thank You</a:t>
            </a:r>
            <a:endParaRPr lang="en-US"/>
          </a:p>
        </p:txBody>
      </p:sp>
      <p:pic>
        <p:nvPicPr>
          <p:cNvPr id="4" name="Picture 3" descr="Logo&#10;&#10;Description automatically generated">
            <a:extLst>
              <a:ext uri="{FF2B5EF4-FFF2-40B4-BE49-F238E27FC236}">
                <a16:creationId xmlns:a16="http://schemas.microsoft.com/office/drawing/2014/main" id="{27EA3C44-1DC0-1BD3-CA5C-7FB0764A68B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B4BB779F-0FB1-4442-C814-50B25C222E7E}"/>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BB7551B4-EB9E-2594-B619-D2308C364688}"/>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EECE0C26-C666-952B-8A22-C9F74D901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877155C-DA60-5000-0F7E-01825B5AFB96}"/>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9FBBD8B1-772B-7C8F-48F4-F1688B39656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A0B60D43-1825-C390-7ABE-0953F3CC035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559D69DC-8135-677A-4786-AB421A751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4387BD3F-CBC8-AF64-9852-D1732E5246EB}"/>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985481325"/>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VanillaVTI</vt:lpstr>
      <vt:lpstr>CAPSTONE PROJECT</vt:lpstr>
      <vt:lpstr>Project Overview</vt:lpstr>
      <vt:lpstr>Actors &amp; Their Roles</vt:lpstr>
      <vt:lpstr>Actors &amp; Their Roles</vt:lpstr>
      <vt:lpstr>Actors &amp; Their Roles</vt:lpstr>
      <vt:lpstr>Key Functionalities</vt:lpstr>
      <vt:lpstr>System Architecture</vt:lpstr>
      <vt:lpstr>Use Case Diagram</vt:lpstr>
      <vt:lpstr>DB Diagram</vt:lpstr>
      <vt:lpstr>Documents</vt:lpstr>
      <vt:lpstr>Q/A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dc:title>
  <dc:creator/>
  <cp:revision>451</cp:revision>
  <dcterms:created xsi:type="dcterms:W3CDTF">2025-07-23T04:22:15Z</dcterms:created>
  <dcterms:modified xsi:type="dcterms:W3CDTF">2025-08-16T11:06:37Z</dcterms:modified>
</cp:coreProperties>
</file>